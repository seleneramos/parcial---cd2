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al grupo y el tema. La idea central: tomamos una foto de una boleta o factura y la app devuelve los datos ordenados, listos para un Excel o un sistema contable.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peruano: casi todo gasto chico (menú, farmacia, grifo, librería) se sustenta con una boleta o factura impresa en papel térmico. Personas y pymes los registran a mano, lo que toma tiempo y genera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una app en Streamlit que recibe la foto o PDF, limpia la imagen, extrae el texto con OCR y con NLP saca los campos del comprobante, los valida y clasifica el tipo de gasto. Este es un resultado real de la app sobre una boleta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[N] con la cantidad de fotos reales. Explicar que las sintéticas se generan con tools/generar_muestras.py y que todas dicen “documento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general. Cada etapa es un módulo del repositorio: src/preprocess.py, src/ocr.py, src/nlp.py y 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Redimensionar: las boletas térmicas tienen letra pequeña y ampliar ayuda a Tesseract. CLAHE ecualiza el histograma por bloques, así la sombra de un lado no se come el texto. Para enderezar probamos ángulos entre -10° y 10° y elegimos el que deja las filas de texto más marcadas (mayor varianza de la suma por filas). La binarización adaptativa calcula un umbral para cada zona, por eso aguanta la iluminación desigual.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Promedios sobre las 6 boletas sintéticas. Ojo: no basta con mirar la confianza. “Grises + ruido + CLAHE” baja la confianza pero recupera más campos que la imagen original. La métrica que más nos importa es cuántos campos salen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preprocesar, Tesseract pierde toda la cabecera (razón social, RUC, serie, fecha) y los montos. Con preprocesamiento sale todo; queda algún error como “CEHENTO” por “CEMENTO”, que no afecta a los campos que buscamos. Elegimos pytesseract porque es liviano y se despliega fácil en Streamlit Cloud con packages.txt.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las entidades (RUC, montos, fecha) se sacan del texto normalizado, que conserva números y mayúsculas. El texto limpio, sin números, se usa para la clasificación, las palabras clave y la nube de palabras. Las stopwords del dominio aparecen en todas las boletas, así que no ayudan a distinguir un gasto de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NER basado en reglas: como los comprobantes siguen el formato de la SUNAT, las expresiones regulares funcionan bien y no necesitan entrenamiento. Las validaciones sirven para detectar errores del OCR: si el dígito verificador del RUC no cuadra, la app muestra una alerta. Lo mismo si el IGV no es el 18 % de la op. gravada.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6 boletas de prueba quedaron bien clasificadas. La confianza baja cuando aparecen palabras de otra categoría: en la ferretería, “galón” también suma a combustible. TF-IDF da las palabras que distinguen a cada boleta frente al resto del lote; la frecuencia sola daría siempre las mismas palabras.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conviene pasar a la demo en vivo. Mostrar: subir una foto real, ver los pasos del preprocesamiento, comparar el texto con y sin preprocesar, revisar las entidades y alertas, y descargar el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la última línea con los resultados del dataset real: correr python tools/evaluar.py data/raw y copiar los promedios que imprime. Si alguna foto real falla, mostrarla como ejemplo de limitación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en el dataset real hay una foto que falló, mostrarla aquí. El QR de la boleta electrónica trae RUC, tipo, serie, número, IGV, total y fecha, así que serviría para comprobar lo que leyó el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principal y abrir preguntas. Reemplazar los enlaces por los reales del repositorio y de la app desplegada.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26707"/>
          </a:xfrm>
          <a:prstGeom prst="rect">
            <a:avLst/>
          </a:prstGeom>
          <a:noFill/>
          <a:ln/>
        </p:spPr>
        <p:txBody>
          <a:bodyPr wrap="square" lIns="0" tIns="0" rIns="0" bIns="0" rtlCol="0" anchor="t"/>
          <a:lstStyle>
            <a:lvl1pPr algn="l" indent="0" marL="0">
              <a:lnSpc>
                <a:spcPct val="115000"/>
              </a:lnSpc>
              <a:buNone/>
              <a:defRPr lang="en-US" sz="3000" dirty="0">
                <a:solidFill>
                  <a:srgbClr val="1B223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9227"/>
            <a:ext cx="10566400" cy="4185973"/>
          </a:xfrm>
          <a:prstGeom prst="rect">
            <a:avLst/>
          </a:prstGeom>
          <a:noFill/>
          <a:ln/>
        </p:spPr>
        <p:txBody>
          <a:bodyPr wrap="square" lIns="0" tIns="0" rIns="0" bIns="0" rtlCol="0" anchor="t"/>
          <a:lstStyle>
            <a:lvl1pPr algn="l" indent="0" marL="0">
              <a:lnSpc>
                <a:spcPct val="140000"/>
              </a:lnSpc>
              <a:buNone/>
              <a:defRPr lang="en-US" sz="1600" dirty="0">
                <a:solidFill>
                  <a:srgbClr val="1B22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26707"/>
          </a:xfrm>
          <a:prstGeom prst="rect">
            <a:avLst/>
          </a:prstGeom>
          <a:noFill/>
          <a:ln/>
        </p:spPr>
        <p:txBody>
          <a:bodyPr wrap="square" lIns="0" tIns="0" rIns="0" bIns="0" rtlCol="0" anchor="t"/>
          <a:lstStyle>
            <a:lvl1pPr algn="l" indent="0" marL="0">
              <a:lnSpc>
                <a:spcPct val="115000"/>
              </a:lnSpc>
              <a:buNone/>
              <a:defRPr lang="en-US" sz="3000" dirty="0">
                <a:solidFill>
                  <a:srgbClr val="1B2230"/>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9227"/>
            <a:ext cx="10566400" cy="4185973"/>
          </a:xfrm>
          <a:prstGeom prst="rect">
            <a:avLst/>
          </a:prstGeom>
          <a:noFill/>
          <a:ln/>
        </p:spPr>
        <p:txBody>
          <a:bodyPr wrap="square" lIns="0" tIns="0" rIns="0" bIns="0" rtlCol="0" anchor="t"/>
          <a:lstStyle>
            <a:lvl1pPr algn="l" indent="0" marL="0">
              <a:lnSpc>
                <a:spcPct val="140000"/>
              </a:lnSpc>
              <a:buNone/>
              <a:defRPr lang="en-US" sz="1600" dirty="0">
                <a:solidFill>
                  <a:srgbClr val="1B223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30"/>
        </a:solidFill>
      </p:bgPr>
    </p:bg>
    <p:spTree>
      <p:nvGrpSpPr>
        <p:cNvPr id="1" name=""/>
        <p:cNvGrpSpPr/>
        <p:nvPr/>
      </p:nvGrpSpPr>
      <p:grpSpPr>
        <a:xfrm>
          <a:off x="0" y="0"/>
          <a:ext cx="0" cy="0"/>
          <a:chOff x="0" y="0"/>
          <a:chExt cx="0" cy="0"/>
        </a:xfrm>
      </p:grpSpPr>
      <p:pic>
        <p:nvPicPr>
          <p:cNvPr id="2" name="Image 0" descr="Foto de una boleta de venta de prueba con sombra e inclinación">    </p:cNvPr>
          <p:cNvPicPr>
            <a:picLocks noChangeAspect="1"/>
          </p:cNvPicPr>
          <p:nvPr/>
        </p:nvPicPr>
        <p:blipFill>
          <a:blip r:embed="rId1"/>
          <a:srcRect l="0" r="0" t="44" b="44"/>
          <a:stretch/>
        </p:blipFill>
        <p:spPr>
          <a:xfrm rot="180000">
            <a:off x="8013700" y="1270000"/>
            <a:ext cx="3365500" cy="4064000"/>
          </a:xfrm>
          <a:prstGeom prst="roundRect">
            <a:avLst>
              <a:gd name="adj" fmla="val 2264"/>
            </a:avLst>
          </a:prstGeom>
          <a:effectLst>
            <a:outerShdw sx="100000" sy="100000" kx="0" ky="0" algn="bl" rotWithShape="0" blurRad="406400" dist="152400" dir="5400000">
              <a:srgbClr val="000000">
                <a:alpha val="45000"/>
              </a:srgbClr>
            </a:outerShdw>
          </a:effectLst>
        </p:spPr>
      </p:pic>
      <p:sp>
        <p:nvSpPr>
          <p:cNvPr id="3" name="Text 0"/>
          <p:cNvSpPr/>
          <p:nvPr/>
        </p:nvSpPr>
        <p:spPr>
          <a:xfrm>
            <a:off x="812800" y="812800"/>
            <a:ext cx="6540500"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A65A"/>
                </a:solidFill>
                <a:latin typeface="IBM Plex Mono" pitchFamily="49" charset="0"/>
                <a:ea typeface="IBM Plex Mono" pitchFamily="49" charset="-122"/>
                <a:cs typeface="IBM Plex Mono" pitchFamily="49" charset="-120"/>
              </a:rPr>
              <a:t>EXAMEN DE MEDIO CURSO · [NOMBRE DEL CURSO]</a:t>
            </a:r>
            <a:endParaRPr lang="en-US" sz="1300" dirty="0"/>
          </a:p>
        </p:txBody>
      </p:sp>
      <p:sp>
        <p:nvSpPr>
          <p:cNvPr id="4" name="Text 1"/>
          <p:cNvSpPr/>
          <p:nvPr>
            <p:ph type="title"/>
          </p:nvPr>
        </p:nvSpPr>
        <p:spPr>
          <a:xfrm>
            <a:off x="812800" y="1996877"/>
            <a:ext cx="6802120" cy="1835745"/>
          </a:xfrm>
          <a:prstGeom prst="rect">
            <a:avLst/>
          </a:prstGeom>
          <a:noFill/>
          <a:ln/>
        </p:spPr>
        <p:txBody>
          <a:bodyPr wrap="square" lIns="0" tIns="0" rIns="0" bIns="0" rtlCol="0" anchor="t">
            <a:normAutofit/>
          </a:bodyPr>
          <a:lstStyle/>
          <a:p>
            <a:pPr algn="l" indent="0" marL="0">
              <a:lnSpc>
                <a:spcPts val="4752"/>
              </a:lnSpc>
              <a:buNone/>
            </a:pPr>
            <a:r>
              <a:rPr lang="en-US" sz="4400" b="1" i="0" dirty="0">
                <a:solidFill>
                  <a:srgbClr val="F5F2EA"/>
                </a:solidFill>
                <a:latin typeface="IBM Plex Sans" pitchFamily="34" charset="0"/>
                <a:ea typeface="IBM Plex Sans" pitchFamily="34" charset="-122"/>
                <a:cs typeface="IBM Plex Sans" pitchFamily="34" charset="-120"/>
              </a:rPr>
              <a:t>Lectura automática de boletas y facturas peruanas con OCR y NLP</a:t>
            </a:r>
            <a:endParaRPr lang="en-US" sz="4400" dirty="0"/>
          </a:p>
        </p:txBody>
      </p:sp>
      <p:sp>
        <p:nvSpPr>
          <p:cNvPr id="5" name="Text 2"/>
          <p:cNvSpPr/>
          <p:nvPr/>
        </p:nvSpPr>
        <p:spPr>
          <a:xfrm>
            <a:off x="812800" y="4010422"/>
            <a:ext cx="680212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ED8"/>
                </a:solidFill>
                <a:latin typeface="IBM Plex Sans" pitchFamily="34" charset="0"/>
                <a:ea typeface="IBM Plex Sans" pitchFamily="34" charset="-122"/>
                <a:cs typeface="IBM Plex Sans" pitchFamily="34" charset="-120"/>
              </a:rPr>
              <a:t>De una foto del comprobante a los datos que pide la SUNAT: RUC, fecha, IGV, total y tipo de gasto.</a:t>
            </a:r>
            <a:endParaRPr lang="en-US" sz="1600" dirty="0"/>
          </a:p>
        </p:txBody>
      </p:sp>
      <p:sp>
        <p:nvSpPr>
          <p:cNvPr id="6" name="Text 3"/>
          <p:cNvSpPr/>
          <p:nvPr/>
        </p:nvSpPr>
        <p:spPr>
          <a:xfrm>
            <a:off x="812800" y="5532173"/>
            <a:ext cx="680212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[Integrante 1] · [Integrante 2] · [Integrante 3] · [Integrante 4]</a:t>
            </a:r>
            <a:endParaRPr lang="en-US" sz="1300" dirty="0"/>
          </a:p>
        </p:txBody>
      </p:sp>
      <p:sp>
        <p:nvSpPr>
          <p:cNvPr id="7" name="Text 4"/>
          <p:cNvSpPr/>
          <p:nvPr/>
        </p:nvSpPr>
        <p:spPr>
          <a:xfrm>
            <a:off x="812800" y="5814087"/>
            <a:ext cx="680212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Universidad Nacional Agraria La Molina · 26 de octubre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01 · PROBLEMA</a:t>
            </a:r>
            <a:endParaRPr lang="en-US" sz="1200" dirty="0"/>
          </a:p>
        </p:txBody>
      </p:sp>
      <p:sp>
        <p:nvSpPr>
          <p:cNvPr id="3" name="Text 1"/>
          <p:cNvSpPr/>
          <p:nvPr>
            <p:ph type="title"/>
          </p:nvPr>
        </p:nvSpPr>
        <p:spPr>
          <a:xfrm>
            <a:off x="812800" y="1127720"/>
            <a:ext cx="9810750" cy="878814"/>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Las boletas se imprimen en papel que se borra, y sus datos se copian a mano</a:t>
            </a:r>
            <a:endParaRPr lang="en-US" sz="3000" dirty="0"/>
          </a:p>
        </p:txBody>
      </p:sp>
      <p:sp>
        <p:nvSpPr>
          <p:cNvPr id="4" name="Shape 2"/>
          <p:cNvSpPr/>
          <p:nvPr/>
        </p:nvSpPr>
        <p:spPr>
          <a:xfrm>
            <a:off x="815975" y="2339909"/>
            <a:ext cx="3380317" cy="3498916"/>
          </a:xfrm>
          <a:prstGeom prst="roundRect">
            <a:avLst>
              <a:gd name="adj" fmla="val 2160"/>
            </a:avLst>
          </a:prstGeom>
          <a:solidFill>
            <a:srgbClr val="FCFBF7"/>
          </a:solidFill>
          <a:ln w="6350">
            <a:solidFill>
              <a:srgbClr val="E2DDD0"/>
            </a:solidFill>
            <a:prstDash val="solid"/>
          </a:ln>
        </p:spPr>
      </p:sp>
      <p:pic>
        <p:nvPicPr>
          <p:cNvPr id="5" name="Image 0" descr="Warning">    </p:cNvPr>
          <p:cNvPicPr>
            <a:picLocks noChangeAspect="1"/>
          </p:cNvPicPr>
          <p:nvPr/>
        </p:nvPicPr>
        <p:blipFill>
          <a:blip r:embed="rId1"/>
          <a:srcRect l="0" r="0" t="0" b="0"/>
          <a:stretch/>
        </p:blipFill>
        <p:spPr>
          <a:xfrm>
            <a:off x="1071033" y="2594967"/>
            <a:ext cx="355600" cy="355600"/>
          </a:xfrm>
          <a:prstGeom prst="rect">
            <a:avLst/>
          </a:prstGeom>
        </p:spPr>
      </p:pic>
      <p:sp>
        <p:nvSpPr>
          <p:cNvPr id="6" name="Text 3"/>
          <p:cNvSpPr/>
          <p:nvPr/>
        </p:nvSpPr>
        <p:spPr>
          <a:xfrm>
            <a:off x="1071033" y="307756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230"/>
                </a:solidFill>
                <a:latin typeface="IBM Plex Sans" pitchFamily="34" charset="0"/>
                <a:ea typeface="IBM Plex Sans" pitchFamily="34" charset="-122"/>
                <a:cs typeface="IBM Plex Sans" pitchFamily="34" charset="-120"/>
              </a:rPr>
              <a:t>Papel térmico</a:t>
            </a:r>
            <a:endParaRPr lang="en-US" sz="1800" dirty="0"/>
          </a:p>
        </p:txBody>
      </p:sp>
      <p:sp>
        <p:nvSpPr>
          <p:cNvPr id="7" name="Text 4"/>
          <p:cNvSpPr/>
          <p:nvPr/>
        </p:nvSpPr>
        <p:spPr>
          <a:xfrm>
            <a:off x="1071033" y="3478874"/>
            <a:ext cx="29563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262"/>
                </a:solidFill>
                <a:latin typeface="IBM Plex Sans" pitchFamily="34" charset="0"/>
                <a:ea typeface="IBM Plex Sans" pitchFamily="34" charset="-122"/>
                <a:cs typeface="IBM Plex Sans" pitchFamily="34" charset="-120"/>
              </a:rPr>
              <a:t>La tinta se desvanece con el tiempo y las fotos con celular salen con sombra, torcidas o arrugadas.</a:t>
            </a:r>
            <a:endParaRPr lang="en-US" sz="1400" dirty="0"/>
          </a:p>
        </p:txBody>
      </p:sp>
      <p:sp>
        <p:nvSpPr>
          <p:cNvPr id="8" name="Shape 5"/>
          <p:cNvSpPr/>
          <p:nvPr/>
        </p:nvSpPr>
        <p:spPr>
          <a:xfrm>
            <a:off x="4405842" y="2339909"/>
            <a:ext cx="3380317" cy="3498916"/>
          </a:xfrm>
          <a:prstGeom prst="roundRect">
            <a:avLst>
              <a:gd name="adj" fmla="val 2160"/>
            </a:avLst>
          </a:prstGeom>
          <a:solidFill>
            <a:srgbClr val="FCFBF7"/>
          </a:solidFill>
          <a:ln w="6350">
            <a:solidFill>
              <a:srgbClr val="E2DDD0"/>
            </a:solidFill>
            <a:prstDash val="solid"/>
          </a:ln>
        </p:spPr>
      </p:sp>
      <p:pic>
        <p:nvPicPr>
          <p:cNvPr id="9" name="Image 1" descr="Clock">    </p:cNvPr>
          <p:cNvPicPr>
            <a:picLocks noChangeAspect="1"/>
          </p:cNvPicPr>
          <p:nvPr/>
        </p:nvPicPr>
        <p:blipFill>
          <a:blip r:embed="rId2"/>
          <a:srcRect l="0" r="0" t="0" b="0"/>
          <a:stretch/>
        </p:blipFill>
        <p:spPr>
          <a:xfrm>
            <a:off x="4660900" y="2594967"/>
            <a:ext cx="355600" cy="355600"/>
          </a:xfrm>
          <a:prstGeom prst="rect">
            <a:avLst/>
          </a:prstGeom>
        </p:spPr>
      </p:pic>
      <p:sp>
        <p:nvSpPr>
          <p:cNvPr id="10" name="Text 6"/>
          <p:cNvSpPr/>
          <p:nvPr/>
        </p:nvSpPr>
        <p:spPr>
          <a:xfrm>
            <a:off x="4660900" y="307756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230"/>
                </a:solidFill>
                <a:latin typeface="IBM Plex Sans" pitchFamily="34" charset="0"/>
                <a:ea typeface="IBM Plex Sans" pitchFamily="34" charset="-122"/>
                <a:cs typeface="IBM Plex Sans" pitchFamily="34" charset="-120"/>
              </a:rPr>
              <a:t>Registro manual</a:t>
            </a:r>
            <a:endParaRPr lang="en-US" sz="1800" dirty="0"/>
          </a:p>
        </p:txBody>
      </p:sp>
      <p:sp>
        <p:nvSpPr>
          <p:cNvPr id="11" name="Text 7"/>
          <p:cNvSpPr/>
          <p:nvPr/>
        </p:nvSpPr>
        <p:spPr>
          <a:xfrm>
            <a:off x="4660900" y="3478874"/>
            <a:ext cx="29563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262"/>
                </a:solidFill>
                <a:latin typeface="IBM Plex Sans" pitchFamily="34" charset="0"/>
                <a:ea typeface="IBM Plex Sans" pitchFamily="34" charset="-122"/>
                <a:cs typeface="IBM Plex Sans" pitchFamily="34" charset="-120"/>
              </a:rPr>
              <a:t>RUC, fecha, IGV y total se pasan uno por uno a un Excel o al sistema contable de la empresa.</a:t>
            </a:r>
            <a:endParaRPr lang="en-US" sz="1400" dirty="0"/>
          </a:p>
        </p:txBody>
      </p:sp>
      <p:sp>
        <p:nvSpPr>
          <p:cNvPr id="12" name="Shape 8"/>
          <p:cNvSpPr/>
          <p:nvPr/>
        </p:nvSpPr>
        <p:spPr>
          <a:xfrm>
            <a:off x="7995709" y="2339909"/>
            <a:ext cx="3380317" cy="3498916"/>
          </a:xfrm>
          <a:prstGeom prst="roundRect">
            <a:avLst>
              <a:gd name="adj" fmla="val 2160"/>
            </a:avLst>
          </a:prstGeom>
          <a:solidFill>
            <a:srgbClr val="FCFBF7"/>
          </a:solidFill>
          <a:ln w="6350">
            <a:solidFill>
              <a:srgbClr val="E2DDD0"/>
            </a:solidFill>
            <a:prstDash val="solid"/>
          </a:ln>
        </p:spPr>
      </p:sp>
      <p:pic>
        <p:nvPicPr>
          <p:cNvPr id="13" name="Image 2" descr="Search">    </p:cNvPr>
          <p:cNvPicPr>
            <a:picLocks noChangeAspect="1"/>
          </p:cNvPicPr>
          <p:nvPr/>
        </p:nvPicPr>
        <p:blipFill>
          <a:blip r:embed="rId3"/>
          <a:srcRect l="0" r="0" t="0" b="0"/>
          <a:stretch/>
        </p:blipFill>
        <p:spPr>
          <a:xfrm>
            <a:off x="8250767" y="2594967"/>
            <a:ext cx="355600" cy="355600"/>
          </a:xfrm>
          <a:prstGeom prst="rect">
            <a:avLst/>
          </a:prstGeom>
        </p:spPr>
      </p:pic>
      <p:sp>
        <p:nvSpPr>
          <p:cNvPr id="14" name="Text 9"/>
          <p:cNvSpPr/>
          <p:nvPr/>
        </p:nvSpPr>
        <p:spPr>
          <a:xfrm>
            <a:off x="8250767" y="3077567"/>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230"/>
                </a:solidFill>
                <a:latin typeface="IBM Plex Sans" pitchFamily="34" charset="0"/>
                <a:ea typeface="IBM Plex Sans" pitchFamily="34" charset="-122"/>
                <a:cs typeface="IBM Plex Sans" pitchFamily="34" charset="-120"/>
              </a:rPr>
              <a:t>Errores difíciles de ver</a:t>
            </a:r>
            <a:endParaRPr lang="en-US" sz="1800" dirty="0"/>
          </a:p>
        </p:txBody>
      </p:sp>
      <p:sp>
        <p:nvSpPr>
          <p:cNvPr id="15" name="Text 10"/>
          <p:cNvSpPr/>
          <p:nvPr/>
        </p:nvSpPr>
        <p:spPr>
          <a:xfrm>
            <a:off x="8250767" y="3478874"/>
            <a:ext cx="29563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262"/>
                </a:solidFill>
                <a:latin typeface="IBM Plex Sans" pitchFamily="34" charset="0"/>
                <a:ea typeface="IBM Plex Sans" pitchFamily="34" charset="-122"/>
                <a:cs typeface="IBM Plex Sans" pitchFamily="34" charset="-120"/>
              </a:rPr>
              <a:t>Un dígito mal copiado en el RUC o en el IGV complica la deducción de gastos y la conciliación.</a:t>
            </a:r>
            <a:endParaRPr lang="en-US" sz="1400" dirty="0"/>
          </a:p>
        </p:txBody>
      </p:sp>
      <p:sp>
        <p:nvSpPr>
          <p:cNvPr id="16" name="Text 11"/>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7"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02 · OBJETIVO</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De una foto a una fila de datos</a:t>
            </a:r>
            <a:endParaRPr lang="en-US" sz="3000" dirty="0"/>
          </a:p>
        </p:txBody>
      </p:sp>
      <p:pic>
        <p:nvPicPr>
          <p:cNvPr id="4" name="Image 0" descr="Foto de una boleta de botica de prueba">    </p:cNvPr>
          <p:cNvPicPr>
            <a:picLocks noChangeAspect="1"/>
          </p:cNvPicPr>
          <p:nvPr/>
        </p:nvPicPr>
        <p:blipFill>
          <a:blip r:embed="rId1"/>
          <a:srcRect l="20" r="20" t="0" b="0"/>
          <a:stretch/>
        </p:blipFill>
        <p:spPr>
          <a:xfrm>
            <a:off x="812800" y="2136115"/>
            <a:ext cx="2794000" cy="3378200"/>
          </a:xfrm>
          <a:prstGeom prst="roundRect">
            <a:avLst>
              <a:gd name="adj" fmla="val 2727"/>
            </a:avLst>
          </a:prstGeom>
          <a:effectLst>
            <a:outerShdw sx="100000" sy="100000" kx="0" ky="0" algn="bl" rotWithShape="0" blurRad="203200" dist="76200" dir="5400000">
              <a:srgbClr val="1B2230">
                <a:alpha val="18000"/>
              </a:srgbClr>
            </a:outerShdw>
          </a:effectLst>
        </p:spPr>
      </p:pic>
      <p:pic>
        <p:nvPicPr>
          <p:cNvPr id="5" name="Image 1" descr="arrow-right">    </p:cNvPr>
          <p:cNvPicPr>
            <a:picLocks noChangeAspect="1"/>
          </p:cNvPicPr>
          <p:nvPr/>
        </p:nvPicPr>
        <p:blipFill>
          <a:blip r:embed="rId2"/>
          <a:srcRect l="0" r="0" t="0" b="0"/>
          <a:stretch/>
        </p:blipFill>
        <p:spPr>
          <a:xfrm>
            <a:off x="3911600" y="3634715"/>
            <a:ext cx="762000" cy="381000"/>
          </a:xfrm>
          <a:prstGeom prst="rect">
            <a:avLst/>
          </a:prstGeom>
        </p:spPr>
      </p:pic>
      <p:sp>
        <p:nvSpPr>
          <p:cNvPr id="6" name="Shape 2"/>
          <p:cNvSpPr/>
          <p:nvPr/>
        </p:nvSpPr>
        <p:spPr>
          <a:xfrm>
            <a:off x="4978400" y="2199878"/>
            <a:ext cx="6400800" cy="3250671"/>
          </a:xfrm>
          <a:prstGeom prst="roundRect">
            <a:avLst>
              <a:gd name="adj" fmla="val 2344"/>
            </a:avLst>
          </a:prstGeom>
          <a:solidFill>
            <a:srgbClr val="FCFBF7"/>
          </a:solidFill>
          <a:ln/>
        </p:spPr>
      </p:sp>
      <p:sp>
        <p:nvSpPr>
          <p:cNvPr id="7" name="Shape 3"/>
          <p:cNvSpPr/>
          <p:nvPr/>
        </p:nvSpPr>
        <p:spPr>
          <a:xfrm>
            <a:off x="4978400" y="2199878"/>
            <a:ext cx="6400800" cy="3250671"/>
          </a:xfrm>
          <a:custGeom>
            <a:avLst/>
            <a:gdLst/>
            <a:ahLst/>
            <a:cxnLst/>
            <a:rect l="l" t="t" r="r" b="b"/>
            <a:pathLst>
              <a:path w="6400800" h="3250671">
                <a:moveTo>
                  <a:pt x="6324600" y="0"/>
                </a:moveTo>
                <a:lnTo>
                  <a:pt x="6324600" y="0"/>
                </a:lnTo>
                <a:arcTo hR="76200" wR="76200" stAng="16200000" swAng="5400000"/>
                <a:lnTo>
                  <a:pt x="6400800" y="3174471"/>
                </a:lnTo>
                <a:arcTo hR="76200" wR="76200" stAng="0" swAng="5400000"/>
                <a:lnTo>
                  <a:pt x="76200" y="3250671"/>
                </a:lnTo>
                <a:arcTo hR="76200" wR="76200" stAng="5400000" swAng="5400000"/>
                <a:lnTo>
                  <a:pt x="0" y="3174471"/>
                </a:lnTo>
                <a:arcTo hR="69850" wR="76200" stAng="10800000" swAng="-5400000"/>
                <a:lnTo>
                  <a:pt x="6324600" y="3244321"/>
                </a:lnTo>
                <a:arcTo hR="69850" wR="69850" stAng="5400000" swAng="-5400000"/>
                <a:lnTo>
                  <a:pt x="6394450" y="76200"/>
                </a:lnTo>
                <a:arcTo hR="76200" wR="69850" stAng="0" swAng="-5400000"/>
                <a:close/>
              </a:path>
            </a:pathLst>
          </a:custGeom>
          <a:solidFill>
            <a:srgbClr val="E2DDD0"/>
          </a:solidFill>
          <a:ln/>
        </p:spPr>
      </p:sp>
      <p:sp>
        <p:nvSpPr>
          <p:cNvPr id="8" name="Shape 4"/>
          <p:cNvSpPr/>
          <p:nvPr/>
        </p:nvSpPr>
        <p:spPr>
          <a:xfrm>
            <a:off x="4978400" y="2199878"/>
            <a:ext cx="6400800" cy="3250671"/>
          </a:xfrm>
          <a:custGeom>
            <a:avLst/>
            <a:gdLst/>
            <a:ahLst/>
            <a:cxnLst/>
            <a:rect l="l" t="t" r="r" b="b"/>
            <a:pathLst>
              <a:path w="6400800" h="3250671">
                <a:moveTo>
                  <a:pt x="76200" y="3250671"/>
                </a:moveTo>
                <a:lnTo>
                  <a:pt x="76200" y="3250671"/>
                </a:lnTo>
                <a:arcTo hR="76200" wR="76200" stAng="5400000" swAng="5400000"/>
                <a:lnTo>
                  <a:pt x="0" y="76200"/>
                </a:lnTo>
                <a:arcTo hR="76200" wR="76200" stAng="10800000" swAng="5400000"/>
                <a:lnTo>
                  <a:pt x="6324600" y="0"/>
                </a:lnTo>
                <a:arcTo hR="76200" wR="76200" stAng="16200000" swAng="5400000"/>
                <a:lnTo>
                  <a:pt x="6400800" y="76200"/>
                </a:lnTo>
                <a:arcTo hR="63500" wR="76200" stAng="0" swAng="-5400000"/>
                <a:lnTo>
                  <a:pt x="76200" y="12700"/>
                </a:lnTo>
                <a:arcTo hR="63500" wR="63500" stAng="16200000" swAng="-5400000"/>
                <a:lnTo>
                  <a:pt x="12700" y="3174471"/>
                </a:lnTo>
                <a:arcTo hR="76200" wR="63500" stAng="10800000" swAng="-5400000"/>
                <a:close/>
              </a:path>
            </a:pathLst>
          </a:custGeom>
          <a:solidFill>
            <a:srgbClr val="141413">
              <a:alpha val="22000"/>
            </a:srgbClr>
          </a:solidFill>
          <a:ln/>
        </p:spPr>
      </p:sp>
      <p:sp>
        <p:nvSpPr>
          <p:cNvPr id="9" name="Shape 5"/>
          <p:cNvSpPr/>
          <p:nvPr/>
        </p:nvSpPr>
        <p:spPr>
          <a:xfrm>
            <a:off x="4991100" y="2212578"/>
            <a:ext cx="6383867" cy="359304"/>
          </a:xfrm>
          <a:custGeom>
            <a:avLst/>
            <a:gdLst/>
            <a:ahLst/>
            <a:cxnLst/>
            <a:rect l="l" t="t" r="r" b="b"/>
            <a:pathLst>
              <a:path w="6383867" h="359304">
                <a:moveTo>
                  <a:pt x="0" y="63500"/>
                </a:moveTo>
                <a:arcTo hR="63500" wR="63500" stAng="10800000" swAng="5400000"/>
                <a:lnTo>
                  <a:pt x="6311900" y="0"/>
                </a:lnTo>
                <a:arcTo hR="71967" wR="71967" stAng="16200000" swAng="5400000"/>
                <a:lnTo>
                  <a:pt x="6383867" y="359304"/>
                </a:lnTo>
                <a:lnTo>
                  <a:pt x="0" y="359304"/>
                </a:lnTo>
                <a:close/>
              </a:path>
            </a:pathLst>
          </a:custGeom>
          <a:solidFill>
            <a:srgbClr val="E9E9E5"/>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91100" y="2212578"/>
          <a:ext cx="6383867" cy="3233738"/>
        </p:xfrm>
        <a:graphic>
          <a:graphicData uri="http://schemas.openxmlformats.org/drawingml/2006/table">
            <a:tbl>
              <a:tblPr/>
              <a:tblGrid>
                <a:gridCol w="2681224"/>
                <a:gridCol w="3702643"/>
              </a:tblGrid>
              <a:tr h="359304">
                <a:tc>
                  <a:txBody>
                    <a:bodyPr/>
                    <a:lstStyle/>
                    <a:p>
                      <a:pPr indent="0" marL="0">
                        <a:lnSpc>
                          <a:spcPts val="1820"/>
                        </a:lnSpc>
                        <a:buNone/>
                      </a:pPr>
                      <a:r>
                        <a:rPr lang="en-US" sz="1300" b="1" dirty="0">
                          <a:solidFill>
                            <a:srgbClr val="1B2230"/>
                          </a:solidFill>
                          <a:latin typeface="IBM Plex Mono" pitchFamily="49" charset="0"/>
                          <a:ea typeface="IBM Plex Mono" pitchFamily="49" charset="-122"/>
                          <a:cs typeface="IBM Plex Mono" pitchFamily="49" charset="-120"/>
                        </a:rPr>
                        <a:t>Campo</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BABAB7"/>
                      </a:solidFill>
                      <a:prstDash val="solid"/>
                      <a:round/>
                      <a:headEnd type="none" w="med" len="med"/>
                      <a:tailEnd type="none" w="med" len="med"/>
                    </a:lnR>
                    <a:lnT w="0" cap="flat" cmpd="sng" algn="ctr">
                      <a:noFill/>
                    </a:lnT>
                    <a:lnB w="12700" cap="flat" cmpd="sng" algn="ctr">
                      <a:solidFill>
                        <a:srgbClr val="BABAB7"/>
                      </a:solidFill>
                      <a:prstDash val="solid"/>
                      <a:round/>
                      <a:headEnd type="none" w="med" len="med"/>
                      <a:tailEnd type="none" w="med" len="med"/>
                    </a:lnB>
                  </a:tcPr>
                </a:tc>
                <a:tc>
                  <a:txBody>
                    <a:bodyPr/>
                    <a:lstStyle/>
                    <a:p>
                      <a:pPr indent="0" marL="0">
                        <a:lnSpc>
                          <a:spcPts val="1820"/>
                        </a:lnSpc>
                        <a:buNone/>
                      </a:pPr>
                      <a:r>
                        <a:rPr lang="en-US" sz="1300" b="1" dirty="0">
                          <a:solidFill>
                            <a:srgbClr val="1B2230"/>
                          </a:solidFill>
                          <a:latin typeface="IBM Plex Mono" pitchFamily="49" charset="0"/>
                          <a:ea typeface="IBM Plex Mono" pitchFamily="49" charset="-122"/>
                          <a:cs typeface="IBM Plex Mono" pitchFamily="49" charset="-120"/>
                        </a:rPr>
                        <a:t>Valor extraído</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0" cap="flat" cmpd="sng" algn="ctr">
                      <a:noFill/>
                    </a:lnT>
                    <a:lnB w="12700" cap="flat" cmpd="sng" algn="ctr">
                      <a:solidFill>
                        <a:srgbClr val="BABAB7"/>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Tipo</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Boleta de venta</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Serie-número</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B003-00000987</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RUC emisor</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20711223348 (válido)</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Fecha</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18/09/2026</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Op. gravada</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S/ 35.51</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IGV</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S/ 6.39 (cuadra)</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Total</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S/ 41.90</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Categoría</a:t>
                      </a:r>
                      <a:endParaRPr lang="en-US" sz="1300" dirty="0">
                        <a:latin typeface="IBM Plex Mono" charset="0"/>
                        <a:ea typeface="IBM Plex Mono" charset="0"/>
                        <a:cs typeface="IBM Plex Mono" charset="0"/>
                      </a:endParaRPr>
                    </a:p>
                  </a:txBody>
                  <a:tcPr marL="57785" marR="57785" marT="57785" marB="57785" anchor="t">
                    <a:lnL w="0" cap="flat" cmpd="sng" algn="ctr">
                      <a:noFill/>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Mono" pitchFamily="49" charset="0"/>
                          <a:ea typeface="IBM Plex Mono" pitchFamily="49" charset="-122"/>
                          <a:cs typeface="IBM Plex Mono" pitchFamily="49" charset="-120"/>
                        </a:rPr>
                        <a:t>Salud y farmacia</a:t>
                      </a:r>
                      <a:endParaRPr lang="en-US" sz="1300" dirty="0">
                        <a:latin typeface="IBM Plex Mono" charset="0"/>
                        <a:ea typeface="IBM Plex Mono" charset="0"/>
                        <a:cs typeface="IBM Plex Mono"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11" name="Text 6"/>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2" name="Text 7"/>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03 · RECOLECCIÓN DE DATOS</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Armamos un dataset propio con dos fuentes</a:t>
            </a:r>
            <a:endParaRPr lang="en-US" sz="3000" dirty="0"/>
          </a:p>
        </p:txBody>
      </p:sp>
      <p:sp>
        <p:nvSpPr>
          <p:cNvPr id="4" name="Shape 2"/>
          <p:cNvSpPr/>
          <p:nvPr/>
        </p:nvSpPr>
        <p:spPr>
          <a:xfrm>
            <a:off x="815975" y="1862403"/>
            <a:ext cx="5175250" cy="3976423"/>
          </a:xfrm>
          <a:prstGeom prst="roundRect">
            <a:avLst>
              <a:gd name="adj" fmla="val 1836"/>
            </a:avLst>
          </a:prstGeom>
          <a:solidFill>
            <a:srgbClr val="FCFBF7"/>
          </a:solidFill>
          <a:ln w="6350">
            <a:solidFill>
              <a:srgbClr val="E2DDD0"/>
            </a:solidFill>
            <a:prstDash val="solid"/>
          </a:ln>
        </p:spPr>
      </p:sp>
      <p:sp>
        <p:nvSpPr>
          <p:cNvPr id="5" name="Text 3"/>
          <p:cNvSpPr/>
          <p:nvPr/>
        </p:nvSpPr>
        <p:spPr>
          <a:xfrm>
            <a:off x="1096433" y="2142861"/>
            <a:ext cx="475276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3261E"/>
                </a:solidFill>
                <a:latin typeface="IBM Plex Mono" pitchFamily="49" charset="0"/>
                <a:ea typeface="IBM Plex Mono" pitchFamily="49" charset="-122"/>
                <a:cs typeface="IBM Plex Mono" pitchFamily="49" charset="-120"/>
              </a:rPr>
              <a:t>[N]</a:t>
            </a:r>
            <a:endParaRPr lang="en-US" sz="3600" dirty="0"/>
          </a:p>
        </p:txBody>
      </p:sp>
      <p:sp>
        <p:nvSpPr>
          <p:cNvPr id="6" name="Text 4"/>
          <p:cNvSpPr/>
          <p:nvPr/>
        </p:nvSpPr>
        <p:spPr>
          <a:xfrm>
            <a:off x="1096433" y="2727061"/>
            <a:ext cx="47527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230"/>
                </a:solidFill>
                <a:latin typeface="IBM Plex Sans" pitchFamily="34" charset="0"/>
                <a:ea typeface="IBM Plex Sans" pitchFamily="34" charset="-122"/>
                <a:cs typeface="IBM Plex Sans" pitchFamily="34" charset="-120"/>
              </a:rPr>
              <a:t>Fotos reales</a:t>
            </a:r>
            <a:endParaRPr lang="en-US" sz="1800" dirty="0"/>
          </a:p>
        </p:txBody>
      </p:sp>
      <p:sp>
        <p:nvSpPr>
          <p:cNvPr id="7" name="Text 5"/>
          <p:cNvSpPr/>
          <p:nvPr/>
        </p:nvSpPr>
        <p:spPr>
          <a:xfrm>
            <a:off x="1174665" y="3128367"/>
            <a:ext cx="4666911"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Boletas y facturas de restaurantes, boticas, grifos, librerías y supermercados</a:t>
            </a:r>
            <a:endParaRPr lang="en-US" sz="1400" dirty="0"/>
          </a:p>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Con buena luz, con sombra, inclinadas y en papel desgastado</a:t>
            </a:r>
            <a:endParaRPr lang="en-US" sz="1400" dirty="0"/>
          </a:p>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JPG, PNG y PDF escaneados, con DNI y nombres tapados</a:t>
            </a:r>
            <a:endParaRPr lang="en-US" sz="1400" dirty="0"/>
          </a:p>
        </p:txBody>
      </p:sp>
      <p:sp>
        <p:nvSpPr>
          <p:cNvPr id="8" name="Shape 6"/>
          <p:cNvSpPr/>
          <p:nvPr/>
        </p:nvSpPr>
        <p:spPr>
          <a:xfrm>
            <a:off x="6200775" y="1862403"/>
            <a:ext cx="5175250" cy="3976423"/>
          </a:xfrm>
          <a:prstGeom prst="roundRect">
            <a:avLst>
              <a:gd name="adj" fmla="val 1836"/>
            </a:avLst>
          </a:prstGeom>
          <a:solidFill>
            <a:srgbClr val="FCFBF7"/>
          </a:solidFill>
          <a:ln w="6350">
            <a:solidFill>
              <a:srgbClr val="E2DDD0"/>
            </a:solidFill>
            <a:prstDash val="solid"/>
          </a:ln>
        </p:spPr>
      </p:sp>
      <p:sp>
        <p:nvSpPr>
          <p:cNvPr id="9" name="Text 7"/>
          <p:cNvSpPr/>
          <p:nvPr/>
        </p:nvSpPr>
        <p:spPr>
          <a:xfrm>
            <a:off x="6481233" y="2142861"/>
            <a:ext cx="475276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F6F78"/>
                </a:solidFill>
                <a:latin typeface="IBM Plex Mono" pitchFamily="49" charset="0"/>
                <a:ea typeface="IBM Plex Mono" pitchFamily="49" charset="-122"/>
                <a:cs typeface="IBM Plex Mono" pitchFamily="49" charset="-120"/>
              </a:rPr>
              <a:t>6</a:t>
            </a:r>
            <a:endParaRPr lang="en-US" sz="3600" dirty="0"/>
          </a:p>
        </p:txBody>
      </p:sp>
      <p:sp>
        <p:nvSpPr>
          <p:cNvPr id="10" name="Text 8"/>
          <p:cNvSpPr/>
          <p:nvPr/>
        </p:nvSpPr>
        <p:spPr>
          <a:xfrm>
            <a:off x="6481233" y="2727061"/>
            <a:ext cx="475276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230"/>
                </a:solidFill>
                <a:latin typeface="IBM Plex Sans" pitchFamily="34" charset="0"/>
                <a:ea typeface="IBM Plex Sans" pitchFamily="34" charset="-122"/>
                <a:cs typeface="IBM Plex Sans" pitchFamily="34" charset="-120"/>
              </a:rPr>
              <a:t>Boletas sintéticas</a:t>
            </a:r>
            <a:endParaRPr lang="en-US" sz="1800" dirty="0"/>
          </a:p>
        </p:txBody>
      </p:sp>
      <p:sp>
        <p:nvSpPr>
          <p:cNvPr id="11" name="Text 9"/>
          <p:cNvSpPr/>
          <p:nvPr/>
        </p:nvSpPr>
        <p:spPr>
          <a:xfrm>
            <a:off x="6559465" y="3128367"/>
            <a:ext cx="4666911"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Negocios ficticios de seis rubros, con RUC de dígito verificador válido</a:t>
            </a:r>
            <a:endParaRPr lang="en-US" sz="1400" dirty="0"/>
          </a:p>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Degradadas a propósito: ruido, sombra, baja resolución e inclinación de hasta 4°</a:t>
            </a:r>
            <a:endParaRPr lang="en-US" sz="1400" dirty="0"/>
          </a:p>
          <a:p>
            <a:pPr algn="l" marL="175768" indent="-175768">
              <a:lnSpc>
                <a:spcPts val="2100"/>
              </a:lnSpc>
              <a:buSzPct val="100000"/>
              <a:buChar char="•"/>
            </a:pPr>
            <a:r>
              <a:rPr lang="en-US" sz="1400" dirty="0">
                <a:solidFill>
                  <a:srgbClr val="4A5262"/>
                </a:solidFill>
                <a:latin typeface="IBM Plex Sans" pitchFamily="34" charset="0"/>
                <a:ea typeface="IBM Plex Sans" pitchFamily="34" charset="-122"/>
                <a:cs typeface="IBM Plex Sans" pitchFamily="34" charset="-120"/>
              </a:rPr>
              <a:t>Sirven para probar el código y ajustar parámetros</a:t>
            </a:r>
            <a:endParaRPr lang="en-US" sz="1400" dirty="0"/>
          </a:p>
        </p:txBody>
      </p:sp>
      <p:sp>
        <p:nvSpPr>
          <p:cNvPr id="12" name="Text 10"/>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3" name="Text 1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04 · METODOLOGÍA</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El sistema trabaja en seis etapas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1929"/>
          <a:ext cx="10553700" cy="2701727"/>
        </p:xfrm>
        <a:graphic>
          <a:graphicData uri="http://schemas.openxmlformats.org/drawingml/2006/table">
            <a:tbl>
              <a:tblPr/>
              <a:tblGrid>
                <a:gridCol w="633222"/>
                <a:gridCol w="2532888"/>
                <a:gridCol w="5065776"/>
                <a:gridCol w="2321814"/>
              </a:tblGrid>
              <a:tr h="385961">
                <a:tc>
                  <a:txBody>
                    <a:bodyPr/>
                    <a:lstStyle/>
                    <a:p>
                      <a:pP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Etapa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Qué hace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Herramienta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Carga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Recibe fotos JPG o PNG y PDF escaneados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PyMuPDF, Pillow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Preprocesamiento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Limpia y endereza la imagen para el OCR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OpenCV</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OCR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Convierte la imagen en texto, con confianza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Tesseract 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Limpieza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Corrige errores del OCR, tokeniza y quita stopwords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Python, regex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NLP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Extrae entidades, valida, clasifica y saca palabras clave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regex, TF-IDF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App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Muestra cada paso y descarga CSV, JSON y TXT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Streamlit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r>
            </a:tbl>
          </a:graphicData>
        </a:graphic>
      </p:graphicFrame>
      <p:sp>
        <p:nvSpPr>
          <p:cNvPr id="5" name="Text 2"/>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6" name="Text 3"/>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05 · PREPROCESAMIENTO DE IMÁGENES</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Siete pasos para dejar el texto negro sobre blanco</a:t>
            </a:r>
            <a:endParaRPr lang="en-US" sz="3000" dirty="0"/>
          </a:p>
        </p:txBody>
      </p:sp>
      <p:sp>
        <p:nvSpPr>
          <p:cNvPr id="4" name="Shape 2"/>
          <p:cNvSpPr/>
          <p:nvPr/>
        </p:nvSpPr>
        <p:spPr>
          <a:xfrm>
            <a:off x="812800" y="1783029"/>
            <a:ext cx="2794000" cy="3378200"/>
          </a:xfrm>
          <a:prstGeom prst="roundRect">
            <a:avLst>
              <a:gd name="adj" fmla="val 1818"/>
            </a:avLst>
          </a:prstGeom>
          <a:solidFill>
            <a:srgbClr val="E2DDD0"/>
          </a:solidFill>
          <a:ln/>
        </p:spPr>
      </p:sp>
      <p:pic>
        <p:nvPicPr>
          <p:cNvPr id="5" name="Image 0" descr="Boleta original con sombra, ruido e inclinación">    </p:cNvPr>
          <p:cNvPicPr>
            <a:picLocks noChangeAspect="1"/>
          </p:cNvPicPr>
          <p:nvPr/>
        </p:nvPicPr>
        <p:blipFill>
          <a:blip r:embed="rId1"/>
          <a:srcRect l="0" r="0" t="-20" b="-20"/>
          <a:stretch/>
        </p:blipFill>
        <p:spPr>
          <a:xfrm>
            <a:off x="812800" y="1783029"/>
            <a:ext cx="2794000" cy="3378200"/>
          </a:xfrm>
          <a:prstGeom prst="roundRect">
            <a:avLst>
              <a:gd name="adj" fmla="val 1818"/>
            </a:avLst>
          </a:prstGeom>
        </p:spPr>
      </p:pic>
      <p:sp>
        <p:nvSpPr>
          <p:cNvPr id="6" name="Text 3"/>
          <p:cNvSpPr/>
          <p:nvPr/>
        </p:nvSpPr>
        <p:spPr>
          <a:xfrm>
            <a:off x="812800" y="5237429"/>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2"/>
                </a:solidFill>
                <a:latin typeface="IBM Plex Sans" pitchFamily="34" charset="0"/>
                <a:ea typeface="IBM Plex Sans" pitchFamily="34" charset="-122"/>
                <a:cs typeface="IBM Plex Sans" pitchFamily="34" charset="-120"/>
              </a:rPr>
              <a:t>Original</a:t>
            </a:r>
            <a:endParaRPr lang="en-US" sz="1200" dirty="0"/>
          </a:p>
        </p:txBody>
      </p:sp>
      <p:sp>
        <p:nvSpPr>
          <p:cNvPr id="7" name="Shape 4"/>
          <p:cNvSpPr/>
          <p:nvPr/>
        </p:nvSpPr>
        <p:spPr>
          <a:xfrm>
            <a:off x="3860800" y="1783029"/>
            <a:ext cx="2794000" cy="3378200"/>
          </a:xfrm>
          <a:prstGeom prst="roundRect">
            <a:avLst>
              <a:gd name="adj" fmla="val 1818"/>
            </a:avLst>
          </a:prstGeom>
          <a:solidFill>
            <a:srgbClr val="FFFFFF"/>
          </a:solidFill>
          <a:ln/>
        </p:spPr>
      </p:sp>
      <p:pic>
        <p:nvPicPr>
          <p:cNvPr id="8" name="Image 1" descr="La misma boleta enderezada y binarizada">    </p:cNvPr>
          <p:cNvPicPr>
            <a:picLocks noChangeAspect="1"/>
          </p:cNvPicPr>
          <p:nvPr/>
        </p:nvPicPr>
        <p:blipFill>
          <a:blip r:embed="rId2"/>
          <a:srcRect l="0" r="0" t="-54" b="-54"/>
          <a:stretch/>
        </p:blipFill>
        <p:spPr>
          <a:xfrm>
            <a:off x="3867150" y="1789379"/>
            <a:ext cx="2781300" cy="3365500"/>
          </a:xfrm>
          <a:prstGeom prst="roundRect">
            <a:avLst>
              <a:gd name="adj" fmla="val 1598"/>
            </a:avLst>
          </a:prstGeom>
        </p:spPr>
      </p:pic>
      <p:sp>
        <p:nvSpPr>
          <p:cNvPr id="9" name="Shape 5"/>
          <p:cNvSpPr/>
          <p:nvPr/>
        </p:nvSpPr>
        <p:spPr>
          <a:xfrm>
            <a:off x="3863975" y="1786204"/>
            <a:ext cx="2787650" cy="3371850"/>
          </a:xfrm>
          <a:prstGeom prst="roundRect">
            <a:avLst>
              <a:gd name="adj" fmla="val 1708"/>
            </a:avLst>
          </a:prstGeom>
          <a:noFill/>
          <a:ln w="6350">
            <a:solidFill>
              <a:srgbClr val="E2DDD0"/>
            </a:solidFill>
            <a:prstDash val="solid"/>
          </a:ln>
        </p:spPr>
      </p:sp>
      <p:sp>
        <p:nvSpPr>
          <p:cNvPr id="10" name="Text 6"/>
          <p:cNvSpPr/>
          <p:nvPr/>
        </p:nvSpPr>
        <p:spPr>
          <a:xfrm>
            <a:off x="3860800" y="5237429"/>
            <a:ext cx="2877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2"/>
                </a:solidFill>
                <a:latin typeface="IBM Plex Sans" pitchFamily="34" charset="0"/>
                <a:ea typeface="IBM Plex Sans" pitchFamily="34" charset="-122"/>
                <a:cs typeface="IBM Plex Sans" pitchFamily="34" charset="-120"/>
              </a:rPr>
              <a:t>Después (enderezada 1.5°)</a:t>
            </a:r>
            <a:endParaRPr lang="en-US" sz="1200" dirty="0"/>
          </a:p>
        </p:txBody>
      </p:sp>
      <p:sp>
        <p:nvSpPr>
          <p:cNvPr id="11" name="Text 7"/>
          <p:cNvSpPr/>
          <p:nvPr/>
        </p:nvSpPr>
        <p:spPr>
          <a:xfrm>
            <a:off x="6972763" y="1783029"/>
            <a:ext cx="4532929" cy="4084373"/>
          </a:xfrm>
          <a:prstGeom prst="rect">
            <a:avLst/>
          </a:prstGeom>
          <a:noFill/>
          <a:ln/>
        </p:spPr>
        <p:txBody>
          <a:bodyPr wrap="square" lIns="0" tIns="0" rIns="0" bIns="0" rtlCol="0" anchor="t">
            <a:normAutofit/>
          </a:bodyPr>
          <a:lstStyle/>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Redimensionar</a:t>
            </a:r>
            <a:r>
              <a:rPr lang="en-US" sz="1350" dirty="0">
                <a:solidFill>
                  <a:srgbClr val="1B2230"/>
                </a:solidFill>
                <a:latin typeface="IBM Plex Sans" pitchFamily="34" charset="0"/>
                <a:ea typeface="IBM Plex Sans" pitchFamily="34" charset="-122"/>
                <a:cs typeface="IBM Plex Sans" pitchFamily="34" charset="-120"/>
              </a:rPr>
              <a:t> a 1600 px de ancho</a:t>
            </a:r>
            <a:endParaRPr lang="en-US" sz="1350" dirty="0"/>
          </a:p>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Escala de grises</a:t>
            </a:r>
            <a:endParaRPr lang="en-US" sz="1350" dirty="0"/>
          </a:p>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Quitar ruido</a:t>
            </a:r>
            <a:r>
              <a:rPr lang="en-US" sz="1350" dirty="0">
                <a:solidFill>
                  <a:srgbClr val="1B2230"/>
                </a:solidFill>
                <a:latin typeface="IBM Plex Sans" pitchFamily="34" charset="0"/>
                <a:ea typeface="IBM Plex Sans" pitchFamily="34" charset="-122"/>
                <a:cs typeface="IBM Plex Sans" pitchFamily="34" charset="-120"/>
              </a:rPr>
              <a:t> con non-local means</a:t>
            </a:r>
            <a:endParaRPr lang="en-US" sz="1350" dirty="0"/>
          </a:p>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Contraste</a:t>
            </a:r>
            <a:r>
              <a:rPr lang="en-US" sz="1350" dirty="0">
                <a:solidFill>
                  <a:srgbClr val="1B2230"/>
                </a:solidFill>
                <a:latin typeface="IBM Plex Sans" pitchFamily="34" charset="0"/>
                <a:ea typeface="IBM Plex Sans" pitchFamily="34" charset="-122"/>
                <a:cs typeface="IBM Plex Sans" pitchFamily="34" charset="-120"/>
              </a:rPr>
              <a:t> con CLAHE</a:t>
            </a:r>
            <a:endParaRPr lang="en-US" sz="1350" dirty="0"/>
          </a:p>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Enderezar</a:t>
            </a:r>
            <a:r>
              <a:rPr lang="en-US" sz="1350" dirty="0">
                <a:solidFill>
                  <a:srgbClr val="1B2230"/>
                </a:solidFill>
                <a:latin typeface="IBM Plex Sans" pitchFamily="34" charset="0"/>
                <a:ea typeface="IBM Plex Sans" pitchFamily="34" charset="-122"/>
                <a:cs typeface="IBM Plex Sans" pitchFamily="34" charset="-120"/>
              </a:rPr>
              <a:t> por perfil de proyección</a:t>
            </a:r>
            <a:endParaRPr lang="en-US" sz="1350" dirty="0"/>
          </a:p>
          <a:p>
            <a:pPr algn="l" marL="190037" indent="-190037">
              <a:lnSpc>
                <a:spcPts val="2025"/>
              </a:lnSpc>
              <a:buSzPct val="100000"/>
              <a:buFontTx/>
              <a:buAutoNum type="arabicPeriod" startAt="1"/>
            </a:pPr>
            <a:r>
              <a:rPr lang="en-US" sz="1350" b="1" dirty="0">
                <a:solidFill>
                  <a:srgbClr val="1B2230"/>
                </a:solidFill>
                <a:latin typeface="IBM Plex Sans" pitchFamily="34" charset="0"/>
                <a:ea typeface="IBM Plex Sans" pitchFamily="34" charset="-122"/>
                <a:cs typeface="IBM Plex Sans" pitchFamily="34" charset="-120"/>
              </a:rPr>
              <a:t>Binarizar</a:t>
            </a:r>
            <a:r>
              <a:rPr lang="en-US" sz="1350" dirty="0">
                <a:solidFill>
                  <a:srgbClr val="1B2230"/>
                </a:solidFill>
                <a:latin typeface="IBM Plex Sans" pitchFamily="34" charset="0"/>
                <a:ea typeface="IBM Plex Sans" pitchFamily="34" charset="-122"/>
                <a:cs typeface="IBM Plex Sans" pitchFamily="34" charset="-120"/>
              </a:rPr>
              <a:t> adaptativa gaussiana</a:t>
            </a:r>
            <a:endParaRPr lang="en-US" sz="1350" dirty="0"/>
          </a:p>
          <a:p>
            <a:pPr algn="l" marL="190037" indent="-190037">
              <a:lnSpc>
                <a:spcPts val="2025"/>
              </a:lnSpc>
              <a:buSzPct val="100000"/>
              <a:buFontTx/>
              <a:buAutoNum type="arabicPeriod" startAt="1"/>
            </a:pPr>
            <a:r>
              <a:rPr lang="en-US" sz="1350" dirty="0">
                <a:solidFill>
                  <a:srgbClr val="1B2230"/>
                </a:solidFill>
                <a:latin typeface="IBM Plex Sans" pitchFamily="34" charset="0"/>
                <a:ea typeface="IBM Plex Sans" pitchFamily="34" charset="-122"/>
                <a:cs typeface="IBM Plex Sans" pitchFamily="34" charset="-120"/>
              </a:rPr>
              <a:t>Cada paso se ve en la app</a:t>
            </a:r>
            <a:endParaRPr lang="en-US" sz="1350" dirty="0"/>
          </a:p>
        </p:txBody>
      </p:sp>
      <p:sp>
        <p:nvSpPr>
          <p:cNvPr id="12" name="Text 8"/>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3" name="Text 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06 · AJUSTE DE PARÁMETROS</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Comparamos seis configuraciones antes de elegir</a:t>
            </a:r>
            <a:endParaRPr lang="en-US" sz="3000" dirty="0"/>
          </a:p>
        </p:txBody>
      </p:sp>
      <p:sp>
        <p:nvSpPr>
          <p:cNvPr id="4" name="Shape 2"/>
          <p:cNvSpPr/>
          <p:nvPr/>
        </p:nvSpPr>
        <p:spPr>
          <a:xfrm>
            <a:off x="812800" y="1808429"/>
            <a:ext cx="6858000" cy="2714427"/>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6845300" cy="2701727"/>
        </p:xfrm>
        <a:graphic>
          <a:graphicData uri="http://schemas.openxmlformats.org/drawingml/2006/table">
            <a:tbl>
              <a:tblPr/>
              <a:tblGrid>
                <a:gridCol w="3833368"/>
                <a:gridCol w="1505966"/>
                <a:gridCol w="1505966"/>
              </a:tblGrid>
              <a:tr h="385961">
                <a:tc>
                  <a:txBody>
                    <a:bodyPr/>
                    <a:lstStyle/>
                    <a:p>
                      <a:pP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Configuración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Confianza OCR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960"/>
                        </a:lnSpc>
                        <a:buNone/>
                      </a:pPr>
                      <a:r>
                        <a:rPr lang="en-US" sz="1400" b="1" dirty="0">
                          <a:solidFill>
                            <a:srgbClr val="1B2230"/>
                          </a:solidFill>
                          <a:latin typeface="IBM Plex Sans" pitchFamily="34" charset="0"/>
                          <a:ea typeface="IBM Plex Sans" pitchFamily="34" charset="-122"/>
                          <a:cs typeface="IBM Plex Sans" pitchFamily="34" charset="-120"/>
                        </a:rPr>
                        <a:t>Campos (de 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Sin preprocesar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85.9 %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Grises + ruido + CLAHE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79.9 %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Otsu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79.9 %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Mediana + Otsu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71.7 %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4.3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Adaptativa (bloque 31, C = 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86.3 %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Adaptativa (bloque 41, C =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5"/>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91.5 %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algn="r" indent="0" marL="0">
                        <a:lnSpc>
                          <a:spcPts val="1960"/>
                        </a:lnSpc>
                        <a:buNone/>
                      </a:pPr>
                      <a:r>
                        <a:rPr lang="en-US" sz="1400" dirty="0">
                          <a:solidFill>
                            <a:srgbClr val="1B2230"/>
                          </a:solidFill>
                          <a:latin typeface="IBM Plex Sans" pitchFamily="34" charset="0"/>
                          <a:ea typeface="IBM Plex Sans" pitchFamily="34" charset="-122"/>
                          <a:cs typeface="IBM Plex Sans" pitchFamily="34" charset="-120"/>
                        </a:rPr>
                        <a:t>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r>
            </a:tbl>
          </a:graphicData>
        </a:graphic>
      </p:graphicFrame>
      <p:sp>
        <p:nvSpPr>
          <p:cNvPr id="6" name="Text 3"/>
          <p:cNvSpPr/>
          <p:nvPr/>
        </p:nvSpPr>
        <p:spPr>
          <a:xfrm>
            <a:off x="8026400" y="1808429"/>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B2230"/>
                </a:solidFill>
                <a:latin typeface="IBM Plex Sans" pitchFamily="34" charset="0"/>
                <a:ea typeface="IBM Plex Sans" pitchFamily="34" charset="-122"/>
                <a:cs typeface="IBM Plex Sans" pitchFamily="34" charset="-120"/>
              </a:rPr>
              <a:t>La última fue la única que sacó los 7 campos en las 6 boletas.</a:t>
            </a:r>
            <a:endParaRPr lang="en-US" sz="1500" dirty="0"/>
          </a:p>
        </p:txBody>
      </p:sp>
      <p:sp>
        <p:nvSpPr>
          <p:cNvPr id="7" name="Text 4"/>
          <p:cNvSpPr/>
          <p:nvPr/>
        </p:nvSpPr>
        <p:spPr>
          <a:xfrm>
            <a:off x="8026400" y="2468829"/>
            <a:ext cx="3453384"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262"/>
                </a:solidFill>
                <a:latin typeface="IBM Plex Sans" pitchFamily="34" charset="0"/>
                <a:ea typeface="IBM Plex Sans" pitchFamily="34" charset="-122"/>
                <a:cs typeface="IBM Plex Sans" pitchFamily="34" charset="-120"/>
              </a:rPr>
              <a:t>Otsu usa un solo umbral para toda la imagen y falla cuando un lado tiene sombra.</a:t>
            </a:r>
            <a:endParaRPr lang="en-US" sz="1300" dirty="0"/>
          </a:p>
        </p:txBody>
      </p:sp>
      <p:sp>
        <p:nvSpPr>
          <p:cNvPr id="8" name="Text 5"/>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9" name="Text 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07 · IMPLEMENTACIÓN DEL OCR</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Tesseract en español: misma boleta, dos resultados</a:t>
            </a:r>
            <a:endParaRPr lang="en-US" sz="3000" dirty="0"/>
          </a:p>
        </p:txBody>
      </p:sp>
      <p:sp>
        <p:nvSpPr>
          <p:cNvPr id="4" name="Text 2"/>
          <p:cNvSpPr/>
          <p:nvPr/>
        </p:nvSpPr>
        <p:spPr>
          <a:xfrm>
            <a:off x="812800" y="1808429"/>
            <a:ext cx="385889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2"/>
                </a:solidFill>
                <a:latin typeface="IBM Plex Sans" pitchFamily="34" charset="0"/>
                <a:ea typeface="IBM Plex Sans" pitchFamily="34" charset="-122"/>
                <a:cs typeface="IBM Plex Sans" pitchFamily="34" charset="-120"/>
              </a:rPr>
              <a:t>Sin preprocesar</a:t>
            </a:r>
            <a:r>
              <a:rPr lang="en-US" sz="1300" dirty="0">
                <a:solidFill>
                  <a:srgbClr val="4A5262"/>
                </a:solidFill>
                <a:latin typeface="IBM Plex Sans" pitchFamily="34" charset="0"/>
                <a:ea typeface="IBM Plex Sans" pitchFamily="34" charset="-122"/>
                <a:cs typeface="IBM Plex Sans" pitchFamily="34" charset="-120"/>
              </a:rPr>
              <a:t> · 1 de 7 campos</a:t>
            </a:r>
            <a:endParaRPr lang="en-US" sz="1300" dirty="0"/>
          </a:p>
        </p:txBody>
      </p:sp>
      <p:sp>
        <p:nvSpPr>
          <p:cNvPr id="5" name="Text 3"/>
          <p:cNvSpPr/>
          <p:nvPr/>
        </p:nvSpPr>
        <p:spPr>
          <a:xfrm>
            <a:off x="812800" y="2141141"/>
            <a:ext cx="3746500" cy="3700859"/>
          </a:xfrm>
          <a:prstGeom prst="roundRect">
            <a:avLst>
              <a:gd name="adj" fmla="val 2059"/>
            </a:avLst>
          </a:prstGeom>
          <a:solidFill>
            <a:srgbClr val="EFEBE1"/>
          </a:solidFill>
          <a:ln/>
        </p:spPr>
        <p:txBody>
          <a:bodyPr wrap="square" lIns="180882" tIns="180882" rIns="80679" bIns="180882" rtlCol="0" anchor="t">
            <a:normAutofit/>
          </a:bodyPr>
          <a:lstStyle/>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DNI: 41236587</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MONEDA: SOLES</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CANT DESCRIPCION</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2 CEMENTO SOL BOLSA</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E PINTURA LATEX GALON:</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1 BROCHA 3 PULGADAS</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OP. GRAVADA</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IGV (18%)</a:t>
            </a:r>
            <a:endParaRPr lang="en-US" sz="1200" dirty="0"/>
          </a:p>
          <a:p>
            <a:pPr algn="l" indent="0" marL="0">
              <a:lnSpc>
                <a:spcPts val="1740"/>
              </a:lnSpc>
              <a:buNone/>
            </a:pPr>
            <a:r>
              <a:rPr lang="en-US" sz="1200" dirty="0">
                <a:solidFill>
                  <a:srgbClr val="1B2230"/>
                </a:solidFill>
                <a:latin typeface="IBM Plex Mono" pitchFamily="49" charset="0"/>
                <a:ea typeface="IBM Plex Mono" pitchFamily="49" charset="-122"/>
                <a:cs typeface="IBM Plex Mono" pitchFamily="49" charset="-120"/>
              </a:rPr>
              <a:t>IMPORTE TOTAL</a:t>
            </a:r>
            <a:endParaRPr lang="en-US" sz="1200" dirty="0"/>
          </a:p>
        </p:txBody>
      </p:sp>
      <p:sp>
        <p:nvSpPr>
          <p:cNvPr id="6" name="Text 4"/>
          <p:cNvSpPr/>
          <p:nvPr/>
        </p:nvSpPr>
        <p:spPr>
          <a:xfrm>
            <a:off x="4762500" y="1808429"/>
            <a:ext cx="3858895"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2"/>
                </a:solidFill>
                <a:latin typeface="IBM Plex Sans" pitchFamily="34" charset="0"/>
                <a:ea typeface="IBM Plex Sans" pitchFamily="34" charset="-122"/>
                <a:cs typeface="IBM Plex Sans" pitchFamily="34" charset="-120"/>
              </a:rPr>
              <a:t>Con preprocesamiento</a:t>
            </a:r>
            <a:r>
              <a:rPr lang="en-US" sz="1300" dirty="0">
                <a:solidFill>
                  <a:srgbClr val="4A5262"/>
                </a:solidFill>
                <a:latin typeface="IBM Plex Sans" pitchFamily="34" charset="0"/>
                <a:ea typeface="IBM Plex Sans" pitchFamily="34" charset="-122"/>
                <a:cs typeface="IBM Plex Sans" pitchFamily="34" charset="-120"/>
              </a:rPr>
              <a:t> · 7 de 7 campos</a:t>
            </a:r>
            <a:endParaRPr lang="en-US" sz="1300" dirty="0"/>
          </a:p>
        </p:txBody>
      </p:sp>
      <p:sp>
        <p:nvSpPr>
          <p:cNvPr id="7" name="Text 5"/>
          <p:cNvSpPr/>
          <p:nvPr/>
        </p:nvSpPr>
        <p:spPr>
          <a:xfrm>
            <a:off x="4762500" y="2141141"/>
            <a:ext cx="3746500" cy="3700859"/>
          </a:xfrm>
          <a:prstGeom prst="roundRect">
            <a:avLst>
              <a:gd name="adj" fmla="val 2059"/>
            </a:avLst>
          </a:prstGeom>
          <a:solidFill>
            <a:srgbClr val="1B2230"/>
          </a:solidFill>
          <a:ln/>
        </p:spPr>
        <p:txBody>
          <a:bodyPr wrap="square" lIns="180882" tIns="180882" rIns="80679" bIns="180882" rtlCol="0" anchor="t">
            <a:normAutofit/>
          </a:bodyPr>
          <a:lstStyle/>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FERRETERIA EL MAESTRO S.R.L.</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RUC: 20500111225</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BOLETA DE VENTA ELECTRONICA</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B002-00005566</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FECHA EMISION: 15/10/2026</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2 CEHENTO SOL BOLSA 42.5KG 58.00</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OP. GRAVADA S/ 102.12</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IGV (18%) S/ 18.38</a:t>
            </a:r>
            <a:endParaRPr lang="en-US" sz="1200" dirty="0"/>
          </a:p>
          <a:p>
            <a:pPr algn="l" indent="0" marL="0">
              <a:lnSpc>
                <a:spcPts val="1740"/>
              </a:lnSpc>
              <a:buNone/>
            </a:pPr>
            <a:r>
              <a:rPr lang="en-US" sz="1200" dirty="0">
                <a:solidFill>
                  <a:srgbClr val="F5F2EA"/>
                </a:solidFill>
                <a:latin typeface="IBM Plex Mono" pitchFamily="49" charset="0"/>
                <a:ea typeface="IBM Plex Mono" pitchFamily="49" charset="-122"/>
                <a:cs typeface="IBM Plex Mono" pitchFamily="49" charset="-120"/>
              </a:rPr>
              <a:t>IMPORTE TOTAL S/ 120.50</a:t>
            </a:r>
            <a:endParaRPr lang="en-US" sz="1200" dirty="0"/>
          </a:p>
        </p:txBody>
      </p:sp>
      <p:sp>
        <p:nvSpPr>
          <p:cNvPr id="8" name="Text 6"/>
          <p:cNvSpPr/>
          <p:nvPr/>
        </p:nvSpPr>
        <p:spPr>
          <a:xfrm>
            <a:off x="8712200" y="1808429"/>
            <a:ext cx="274701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230"/>
                </a:solidFill>
                <a:latin typeface="IBM Plex Sans" pitchFamily="34" charset="0"/>
                <a:ea typeface="IBM Plex Sans" pitchFamily="34" charset="-122"/>
                <a:cs typeface="IBM Plex Sans" pitchFamily="34" charset="-120"/>
              </a:rPr>
              <a:t>Configuración</a:t>
            </a:r>
            <a:endParaRPr lang="en-US" sz="1600" dirty="0"/>
          </a:p>
        </p:txBody>
      </p:sp>
      <p:sp>
        <p:nvSpPr>
          <p:cNvPr id="9" name="Text 7"/>
          <p:cNvSpPr/>
          <p:nvPr/>
        </p:nvSpPr>
        <p:spPr>
          <a:xfrm>
            <a:off x="8797544" y="2153841"/>
            <a:ext cx="2654046" cy="15113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b="1" dirty="0">
                <a:solidFill>
                  <a:srgbClr val="4A5262"/>
                </a:solidFill>
                <a:latin typeface="IBM Plex Sans" pitchFamily="34" charset="0"/>
                <a:ea typeface="IBM Plex Sans" pitchFamily="34" charset="-122"/>
                <a:cs typeface="IBM Plex Sans" pitchFamily="34" charset="-120"/>
              </a:rPr>
              <a:t>lang = spa</a:t>
            </a:r>
            <a:r>
              <a:rPr lang="en-US" sz="1300" dirty="0">
                <a:solidFill>
                  <a:srgbClr val="4A5262"/>
                </a:solidFill>
                <a:latin typeface="IBM Plex Sans" pitchFamily="34" charset="0"/>
                <a:ea typeface="IBM Plex Sans" pitchFamily="34" charset="-122"/>
                <a:cs typeface="IBM Plex Sans" pitchFamily="34" charset="-120"/>
              </a:rPr>
              <a:t>, para tildes y ñ</a:t>
            </a:r>
            <a:endParaRPr lang="en-US" sz="1300" dirty="0"/>
          </a:p>
          <a:p>
            <a:pPr algn="l" marL="168656" indent="-168656">
              <a:lnSpc>
                <a:spcPts val="1950"/>
              </a:lnSpc>
              <a:buSzPct val="100000"/>
              <a:buChar char="•"/>
            </a:pPr>
            <a:r>
              <a:rPr lang="en-US" sz="1300" b="1" dirty="0">
                <a:solidFill>
                  <a:srgbClr val="4A5262"/>
                </a:solidFill>
                <a:latin typeface="IBM Plex Sans" pitchFamily="34" charset="0"/>
                <a:ea typeface="IBM Plex Sans" pitchFamily="34" charset="-122"/>
                <a:cs typeface="IBM Plex Sans" pitchFamily="34" charset="-120"/>
              </a:rPr>
              <a:t>OEM 3</a:t>
            </a:r>
            <a:r>
              <a:rPr lang="en-US" sz="1300" dirty="0">
                <a:solidFill>
                  <a:srgbClr val="4A5262"/>
                </a:solidFill>
                <a:latin typeface="IBM Plex Sans" pitchFamily="34" charset="0"/>
                <a:ea typeface="IBM Plex Sans" pitchFamily="34" charset="-122"/>
                <a:cs typeface="IBM Plex Sans" pitchFamily="34" charset="-120"/>
              </a:rPr>
              <a:t>: motor LSTM</a:t>
            </a:r>
            <a:endParaRPr lang="en-US" sz="1300" dirty="0"/>
          </a:p>
          <a:p>
            <a:pPr algn="l" marL="168656" indent="-168656">
              <a:lnSpc>
                <a:spcPts val="1950"/>
              </a:lnSpc>
              <a:buSzPct val="100000"/>
              <a:buChar char="•"/>
            </a:pPr>
            <a:r>
              <a:rPr lang="en-US" sz="1300" b="1" dirty="0">
                <a:solidFill>
                  <a:srgbClr val="4A5262"/>
                </a:solidFill>
                <a:latin typeface="IBM Plex Sans" pitchFamily="34" charset="0"/>
                <a:ea typeface="IBM Plex Sans" pitchFamily="34" charset="-122"/>
                <a:cs typeface="IBM Plex Sans" pitchFamily="34" charset="-120"/>
              </a:rPr>
              <a:t>PSM 4</a:t>
            </a:r>
            <a:r>
              <a:rPr lang="en-US" sz="1300" dirty="0">
                <a:solidFill>
                  <a:srgbClr val="4A5262"/>
                </a:solidFill>
                <a:latin typeface="IBM Plex Sans" pitchFamily="34" charset="0"/>
                <a:ea typeface="IBM Plex Sans" pitchFamily="34" charset="-122"/>
                <a:cs typeface="IBM Plex Sans" pitchFamily="34" charset="-120"/>
              </a:rPr>
              <a:t>: una columna, como un ticket</a:t>
            </a:r>
            <a:endParaRPr lang="en-US" sz="1300" dirty="0"/>
          </a:p>
          <a:p>
            <a:pPr algn="l" marL="168656" indent="-168656">
              <a:lnSpc>
                <a:spcPts val="1950"/>
              </a:lnSpc>
              <a:buSzPct val="100000"/>
              <a:buChar char="•"/>
            </a:pPr>
            <a:r>
              <a:rPr lang="en-US" sz="1300" dirty="0">
                <a:solidFill>
                  <a:srgbClr val="4A5262"/>
                </a:solidFill>
                <a:latin typeface="IBM Plex Sans" pitchFamily="34" charset="0"/>
                <a:ea typeface="IBM Plex Sans" pitchFamily="34" charset="-122"/>
                <a:cs typeface="IBM Plex Sans" pitchFamily="34" charset="-120"/>
              </a:rPr>
              <a:t>Confianza por palabra con image_to_data</a:t>
            </a:r>
            <a:endParaRPr lang="en-US" sz="1300" dirty="0"/>
          </a:p>
        </p:txBody>
      </p:sp>
      <p:sp>
        <p:nvSpPr>
          <p:cNvPr id="10" name="Text 8"/>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1" name="Text 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08 · LIMPIEZA DEL TEXTO</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Una línea de la boleta, paso a paso</a:t>
            </a:r>
            <a:endParaRPr lang="en-US" sz="3000" dirty="0"/>
          </a:p>
        </p:txBody>
      </p:sp>
      <p:sp>
        <p:nvSpPr>
          <p:cNvPr id="4" name="Shape 2"/>
          <p:cNvSpPr/>
          <p:nvPr/>
        </p:nvSpPr>
        <p:spPr>
          <a:xfrm>
            <a:off x="812800" y="1808429"/>
            <a:ext cx="10566400" cy="1876028"/>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10553700" cy="1863328"/>
        </p:xfrm>
        <a:graphic>
          <a:graphicData uri="http://schemas.openxmlformats.org/drawingml/2006/table">
            <a:tbl>
              <a:tblPr/>
              <a:tblGrid>
                <a:gridCol w="3166110"/>
                <a:gridCol w="7387590"/>
              </a:tblGrid>
              <a:tr h="372666">
                <a:tc>
                  <a:txBody>
                    <a:bodyPr/>
                    <a:lstStyle/>
                    <a:p>
                      <a:pPr indent="0" marL="0">
                        <a:lnSpc>
                          <a:spcPts val="1890"/>
                        </a:lnSpc>
                        <a:buNone/>
                      </a:pPr>
                      <a:r>
                        <a:rPr lang="en-US" sz="1350" b="1" dirty="0">
                          <a:solidFill>
                            <a:srgbClr val="1B2230"/>
                          </a:solidFill>
                          <a:latin typeface="IBM Plex Sans" pitchFamily="34" charset="0"/>
                          <a:ea typeface="IBM Plex Sans" pitchFamily="34" charset="-122"/>
                          <a:cs typeface="IBM Plex Sans" pitchFamily="34" charset="-120"/>
                        </a:rPr>
                        <a:t>Paso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890"/>
                        </a:lnSpc>
                        <a:buNone/>
                      </a:pPr>
                      <a:r>
                        <a:rPr lang="en-US" sz="1350" b="1" dirty="0">
                          <a:solidFill>
                            <a:srgbClr val="1B2230"/>
                          </a:solidFill>
                          <a:latin typeface="IBM Plex Sans" pitchFamily="34" charset="0"/>
                          <a:ea typeface="IBM Plex Sans" pitchFamily="34" charset="-122"/>
                          <a:cs typeface="IBM Plex Sans" pitchFamily="34" charset="-120"/>
                        </a:rPr>
                        <a:t>Resultado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72666">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Texto del OCR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2 PARACETAMOL 500MG TABLETA X10 6.00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Minúsculas, sin tildes ni símbolos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paracetamol mg tableta 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Tokenización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[paracetamol, mg, tableta, 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72666">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Sin stopwords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9C8C5"/>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c>
                  <a:txBody>
                    <a:bodyPr/>
                    <a:lstStyle/>
                    <a:p>
                      <a:pPr indent="0" marL="0">
                        <a:lnSpc>
                          <a:spcPts val="1890"/>
                        </a:lnSpc>
                        <a:buNone/>
                      </a:pPr>
                      <a:r>
                        <a:rPr lang="en-US" sz="1350" dirty="0">
                          <a:solidFill>
                            <a:srgbClr val="1B2230"/>
                          </a:solidFill>
                          <a:latin typeface="IBM Plex Sans" pitchFamily="34" charset="0"/>
                          <a:ea typeface="IBM Plex Sans" pitchFamily="34" charset="-122"/>
                          <a:cs typeface="IBM Plex Sans" pitchFamily="34" charset="-120"/>
                        </a:rPr>
                        <a:t>[paracetamol, tableta]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B8B6"/>
                      </a:solidFill>
                      <a:prstDash val="solid"/>
                      <a:round/>
                      <a:headEnd type="none" w="med" len="med"/>
                      <a:tailEnd type="none" w="med" len="med"/>
                    </a:lnL>
                    <a:lnR w="12700" cap="flat" cmpd="sng" algn="ctr">
                      <a:solidFill>
                        <a:srgbClr val="C4B8B6"/>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B8B6"/>
                      </a:solidFill>
                      <a:prstDash val="solid"/>
                      <a:round/>
                      <a:headEnd type="none" w="med" len="med"/>
                      <a:tailEnd type="none" w="med" len="med"/>
                    </a:lnB>
                    <a:solidFill>
                      <a:srgbClr val="F5E6E4"/>
                    </a:solidFill>
                  </a:tcPr>
                </a:tc>
              </a:tr>
            </a:tbl>
          </a:graphicData>
        </a:graphic>
      </p:graphicFrame>
      <p:sp>
        <p:nvSpPr>
          <p:cNvPr id="6" name="Shape 3"/>
          <p:cNvSpPr/>
          <p:nvPr/>
        </p:nvSpPr>
        <p:spPr>
          <a:xfrm>
            <a:off x="815975" y="3941632"/>
            <a:ext cx="5175250" cy="1192080"/>
          </a:xfrm>
          <a:prstGeom prst="roundRect">
            <a:avLst>
              <a:gd name="adj" fmla="val 6126"/>
            </a:avLst>
          </a:prstGeom>
          <a:solidFill>
            <a:srgbClr val="FCFBF7"/>
          </a:solidFill>
          <a:ln w="6350">
            <a:solidFill>
              <a:srgbClr val="E2DDD0"/>
            </a:solidFill>
            <a:prstDash val="solid"/>
          </a:ln>
        </p:spPr>
      </p:sp>
      <p:sp>
        <p:nvSpPr>
          <p:cNvPr id="7" name="Text 4"/>
          <p:cNvSpPr/>
          <p:nvPr/>
        </p:nvSpPr>
        <p:spPr>
          <a:xfrm>
            <a:off x="1020233" y="4145893"/>
            <a:ext cx="49097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Corrección de errores del OCR</a:t>
            </a:r>
            <a:endParaRPr lang="en-US" sz="1500" dirty="0"/>
          </a:p>
        </p:txBody>
      </p:sp>
      <p:sp>
        <p:nvSpPr>
          <p:cNvPr id="8" name="Text 5"/>
          <p:cNvSpPr/>
          <p:nvPr/>
        </p:nvSpPr>
        <p:spPr>
          <a:xfrm>
            <a:off x="1020233" y="4450693"/>
            <a:ext cx="4909735"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262"/>
                </a:solidFill>
                <a:latin typeface="IBM Plex Sans" pitchFamily="34" charset="0"/>
                <a:ea typeface="IBM Plex Sans" pitchFamily="34" charset="-122"/>
                <a:cs typeface="IBM Plex Sans" pitchFamily="34" charset="-120"/>
              </a:rPr>
              <a:t>1O.5O → 10.50 · 8001-123 → B001-123 · S / → S/ · espacios dobles</a:t>
            </a:r>
            <a:endParaRPr lang="en-US" sz="1300" dirty="0"/>
          </a:p>
        </p:txBody>
      </p:sp>
      <p:sp>
        <p:nvSpPr>
          <p:cNvPr id="9" name="Shape 6"/>
          <p:cNvSpPr/>
          <p:nvPr/>
        </p:nvSpPr>
        <p:spPr>
          <a:xfrm>
            <a:off x="6200775" y="3941632"/>
            <a:ext cx="5175250" cy="1192080"/>
          </a:xfrm>
          <a:prstGeom prst="roundRect">
            <a:avLst>
              <a:gd name="adj" fmla="val 6126"/>
            </a:avLst>
          </a:prstGeom>
          <a:solidFill>
            <a:srgbClr val="FCFBF7"/>
          </a:solidFill>
          <a:ln w="6350">
            <a:solidFill>
              <a:srgbClr val="E2DDD0"/>
            </a:solidFill>
            <a:prstDash val="solid"/>
          </a:ln>
        </p:spPr>
      </p:sp>
      <p:sp>
        <p:nvSpPr>
          <p:cNvPr id="10" name="Text 7"/>
          <p:cNvSpPr/>
          <p:nvPr/>
        </p:nvSpPr>
        <p:spPr>
          <a:xfrm>
            <a:off x="6405033" y="4145893"/>
            <a:ext cx="49097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230"/>
                </a:solidFill>
                <a:latin typeface="IBM Plex Sans" pitchFamily="34" charset="0"/>
                <a:ea typeface="IBM Plex Sans" pitchFamily="34" charset="-122"/>
                <a:cs typeface="IBM Plex Sans" pitchFamily="34" charset="-120"/>
              </a:rPr>
              <a:t>Dos listas de stopwords</a:t>
            </a:r>
            <a:endParaRPr lang="en-US" sz="1500" dirty="0"/>
          </a:p>
        </p:txBody>
      </p:sp>
      <p:sp>
        <p:nvSpPr>
          <p:cNvPr id="11" name="Text 8"/>
          <p:cNvSpPr/>
          <p:nvPr/>
        </p:nvSpPr>
        <p:spPr>
          <a:xfrm>
            <a:off x="6405033" y="4450693"/>
            <a:ext cx="4909735"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262"/>
                </a:solidFill>
                <a:latin typeface="IBM Plex Sans" pitchFamily="34" charset="0"/>
                <a:ea typeface="IBM Plex Sans" pitchFamily="34" charset="-122"/>
                <a:cs typeface="IBM Plex Sans" pitchFamily="34" charset="-120"/>
              </a:rPr>
              <a:t>92 del español y 88 propias de comprobantes: ruc, igv, total, sunat, gravada…</a:t>
            </a:r>
            <a:endParaRPr lang="en-US" sz="1300" dirty="0"/>
          </a:p>
        </p:txBody>
      </p:sp>
      <p:sp>
        <p:nvSpPr>
          <p:cNvPr id="12" name="Text 9"/>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3" name="Text 1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09 · NLP: EXTRACCIÓN DE ENTIDADES</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Reglas para los campos SUNAT, y fórmulas para validarlos</a:t>
            </a:r>
            <a:endParaRPr lang="en-US" sz="3000" dirty="0"/>
          </a:p>
        </p:txBody>
      </p:sp>
      <p:sp>
        <p:nvSpPr>
          <p:cNvPr id="4" name="Shape 2"/>
          <p:cNvSpPr/>
          <p:nvPr/>
        </p:nvSpPr>
        <p:spPr>
          <a:xfrm>
            <a:off x="812800" y="1808429"/>
            <a:ext cx="5207000" cy="2758943"/>
          </a:xfrm>
          <a:prstGeom prst="rect">
            <a:avLst/>
          </a:prstGeom>
          <a:solidFill>
            <a:srgbClr val="FCFBF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5194300" cy="2746243"/>
        </p:xfrm>
        <a:graphic>
          <a:graphicData uri="http://schemas.openxmlformats.org/drawingml/2006/table">
            <a:tbl>
              <a:tblPr/>
              <a:tblGrid>
                <a:gridCol w="1973834"/>
                <a:gridCol w="3220466"/>
              </a:tblGrid>
              <a:tr h="359304">
                <a:tc>
                  <a:txBody>
                    <a:bodyPr/>
                    <a:lstStyle/>
                    <a:p>
                      <a:pPr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Entidad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Cómo se encuentra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Tipo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“BOLETA”, “FACTURA” o letra de la serie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Serie-número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F o B + 3 caracteres + número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590418">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RUC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11 dígitos que empiezan en 10, 15, 17 o 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Razón social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Línea con S.A.C., E.I.R.L., S.R.L.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Fecha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dd/mm/aaaa, con día y mes válidos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IGV y total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Monto en la línea de la etiqueta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6" name="Shape 3"/>
          <p:cNvSpPr/>
          <p:nvPr/>
        </p:nvSpPr>
        <p:spPr>
          <a:xfrm>
            <a:off x="6223000" y="1808429"/>
            <a:ext cx="5156200" cy="1381720"/>
          </a:xfrm>
          <a:prstGeom prst="roundRect">
            <a:avLst>
              <a:gd name="adj" fmla="val 5515"/>
            </a:avLst>
          </a:prstGeom>
          <a:solidFill>
            <a:srgbClr val="1B2230"/>
          </a:solidFill>
          <a:ln/>
        </p:spPr>
      </p:sp>
      <p:sp>
        <p:nvSpPr>
          <p:cNvPr id="7" name="Text 4"/>
          <p:cNvSpPr/>
          <p:nvPr/>
        </p:nvSpPr>
        <p:spPr>
          <a:xfrm>
            <a:off x="6426200" y="2011629"/>
            <a:ext cx="48922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RUC: dígito verificador</a:t>
            </a:r>
            <a:endParaRPr lang="en-US" sz="1400" dirty="0"/>
          </a:p>
        </p:txBody>
      </p:sp>
      <p:sp>
        <p:nvSpPr>
          <p:cNvPr id="8" name="Text 5"/>
          <p:cNvSpPr/>
          <p:nvPr/>
        </p:nvSpPr>
        <p:spPr>
          <a:xfrm>
            <a:off x="6426200" y="2301149"/>
            <a:ext cx="4892294"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F2EA"/>
                </a:solidFill>
                <a:latin typeface="IBM Plex Mono" pitchFamily="49" charset="0"/>
                <a:ea typeface="IBM Plex Mono" pitchFamily="49" charset="-122"/>
                <a:cs typeface="IBM Plex Mono" pitchFamily="49" charset="-120"/>
              </a:rPr>
              <a:t>s = Σ dᵢ·wᵢ, w = 5,4,3,2,7,6,5,4,3,2</a:t>
            </a:r>
            <a:endParaRPr lang="en-US" sz="1200" dirty="0"/>
          </a:p>
          <a:p>
            <a:pPr algn="l" indent="0" marL="0">
              <a:lnSpc>
                <a:spcPts val="1800"/>
              </a:lnSpc>
              <a:buNone/>
            </a:pPr>
            <a:r>
              <a:rPr lang="en-US" sz="1200" dirty="0">
                <a:solidFill>
                  <a:srgbClr val="F5F2EA"/>
                </a:solidFill>
                <a:latin typeface="IBM Plex Mono" pitchFamily="49" charset="0"/>
                <a:ea typeface="IBM Plex Mono" pitchFamily="49" charset="-122"/>
                <a:cs typeface="IBM Plex Mono" pitchFamily="49" charset="-120"/>
              </a:rPr>
              <a:t>dv = 11 − (s mod 11)</a:t>
            </a:r>
            <a:endParaRPr lang="en-US" sz="1200" dirty="0"/>
          </a:p>
          <a:p>
            <a:pPr algn="l" indent="0" marL="0">
              <a:lnSpc>
                <a:spcPts val="1800"/>
              </a:lnSpc>
              <a:buNone/>
            </a:pPr>
            <a:r>
              <a:rPr lang="en-US" sz="1200" dirty="0">
                <a:solidFill>
                  <a:srgbClr val="F5F2EA"/>
                </a:solidFill>
                <a:latin typeface="IBM Plex Mono" pitchFamily="49" charset="0"/>
                <a:ea typeface="IBM Plex Mono" pitchFamily="49" charset="-122"/>
                <a:cs typeface="IBM Plex Mono" pitchFamily="49" charset="-120"/>
              </a:rPr>
              <a:t>(10 → 0, 11 → 1)</a:t>
            </a:r>
            <a:endParaRPr lang="en-US" sz="1200" dirty="0"/>
          </a:p>
        </p:txBody>
      </p:sp>
      <p:sp>
        <p:nvSpPr>
          <p:cNvPr id="9" name="Shape 6"/>
          <p:cNvSpPr/>
          <p:nvPr/>
        </p:nvSpPr>
        <p:spPr>
          <a:xfrm>
            <a:off x="6223000" y="3342549"/>
            <a:ext cx="5156200" cy="1153120"/>
          </a:xfrm>
          <a:prstGeom prst="roundRect">
            <a:avLst>
              <a:gd name="adj" fmla="val 6608"/>
            </a:avLst>
          </a:prstGeom>
          <a:solidFill>
            <a:srgbClr val="1B2230"/>
          </a:solidFill>
          <a:ln/>
        </p:spPr>
      </p:sp>
      <p:sp>
        <p:nvSpPr>
          <p:cNvPr id="10" name="Text 7"/>
          <p:cNvSpPr/>
          <p:nvPr/>
        </p:nvSpPr>
        <p:spPr>
          <a:xfrm>
            <a:off x="6426200" y="3545749"/>
            <a:ext cx="48922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Cuadre de montos</a:t>
            </a:r>
            <a:endParaRPr lang="en-US" sz="1400" dirty="0"/>
          </a:p>
        </p:txBody>
      </p:sp>
      <p:sp>
        <p:nvSpPr>
          <p:cNvPr id="11" name="Text 8"/>
          <p:cNvSpPr/>
          <p:nvPr/>
        </p:nvSpPr>
        <p:spPr>
          <a:xfrm>
            <a:off x="6426200" y="3835270"/>
            <a:ext cx="4892294"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F2EA"/>
                </a:solidFill>
                <a:latin typeface="IBM Plex Mono" pitchFamily="49" charset="0"/>
                <a:ea typeface="IBM Plex Mono" pitchFamily="49" charset="-122"/>
                <a:cs typeface="IBM Plex Mono" pitchFamily="49" charset="-120"/>
              </a:rPr>
              <a:t>IGV ≈ 0.18 × op. gravada</a:t>
            </a:r>
            <a:endParaRPr lang="en-US" sz="1200" dirty="0"/>
          </a:p>
          <a:p>
            <a:pPr algn="l" indent="0" marL="0">
              <a:lnSpc>
                <a:spcPts val="1800"/>
              </a:lnSpc>
              <a:buNone/>
            </a:pPr>
            <a:r>
              <a:rPr lang="en-US" sz="1200" dirty="0">
                <a:solidFill>
                  <a:srgbClr val="F5F2EA"/>
                </a:solidFill>
                <a:latin typeface="IBM Plex Mono" pitchFamily="49" charset="0"/>
                <a:ea typeface="IBM Plex Mono" pitchFamily="49" charset="-122"/>
                <a:cs typeface="IBM Plex Mono" pitchFamily="49" charset="-120"/>
              </a:rPr>
              <a:t>total ≈ op. gravada + IGV</a:t>
            </a:r>
            <a:endParaRPr lang="en-US" sz="1200" dirty="0"/>
          </a:p>
        </p:txBody>
      </p:sp>
      <p:sp>
        <p:nvSpPr>
          <p:cNvPr id="12" name="Text 9"/>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3" name="Text 10"/>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10 · NLP: CLASIFICACIÓN Y PALABRAS CLAVE</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Cada boleta se clasifica en uno de diez tipos de gasto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29"/>
          <a:ext cx="5702300" cy="2515129"/>
        </p:xfrm>
        <a:graphic>
          <a:graphicData uri="http://schemas.openxmlformats.org/drawingml/2006/table">
            <a:tbl>
              <a:tblPr/>
              <a:tblGrid>
                <a:gridCol w="1938782"/>
                <a:gridCol w="2623058"/>
                <a:gridCol w="1140460"/>
              </a:tblGrid>
              <a:tr h="359304">
                <a:tc>
                  <a:txBody>
                    <a:bodyPr/>
                    <a:lstStyle/>
                    <a:p>
                      <a:pPr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Boleta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Categoría asignada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B2230"/>
                          </a:solidFill>
                          <a:latin typeface="IBM Plex Sans" pitchFamily="34" charset="0"/>
                          <a:ea typeface="IBM Plex Sans" pitchFamily="34" charset="-122"/>
                          <a:cs typeface="IBM Plex Sans" pitchFamily="34" charset="-120"/>
                        </a:rPr>
                        <a:t>Confianza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Pollería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Alimentos y restaurantes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100 %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Grifo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Combustible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100 %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Botica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Salud y farmacia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100 %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Librería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Útiles y librería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100 %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Tecnología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Tecnología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89 %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Ferretería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Ferretería y construcción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B2230"/>
                          </a:solidFill>
                          <a:latin typeface="IBM Plex Sans" pitchFamily="34" charset="0"/>
                          <a:ea typeface="IBM Plex Sans" pitchFamily="34" charset="-122"/>
                          <a:cs typeface="IBM Plex Sans" pitchFamily="34" charset="-120"/>
                        </a:rPr>
                        <a:t>83 %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5" name="Shape 2"/>
          <p:cNvSpPr/>
          <p:nvPr/>
        </p:nvSpPr>
        <p:spPr>
          <a:xfrm>
            <a:off x="6784975" y="1811604"/>
            <a:ext cx="4591050" cy="1155237"/>
          </a:xfrm>
          <a:prstGeom prst="roundRect">
            <a:avLst>
              <a:gd name="adj" fmla="val 6321"/>
            </a:avLst>
          </a:prstGeom>
          <a:solidFill>
            <a:srgbClr val="F5F2EA"/>
          </a:solidFill>
          <a:ln w="6350">
            <a:solidFill>
              <a:srgbClr val="E2DDD0"/>
            </a:solidFill>
            <a:prstDash val="solid"/>
          </a:ln>
        </p:spPr>
      </p:sp>
      <p:sp>
        <p:nvSpPr>
          <p:cNvPr id="6" name="Text 3"/>
          <p:cNvSpPr/>
          <p:nvPr/>
        </p:nvSpPr>
        <p:spPr>
          <a:xfrm>
            <a:off x="6989234" y="2015865"/>
            <a:ext cx="430800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230"/>
                </a:solidFill>
                <a:latin typeface="IBM Plex Sans" pitchFamily="34" charset="0"/>
                <a:ea typeface="IBM Plex Sans" pitchFamily="34" charset="-122"/>
                <a:cs typeface="IBM Plex Sans" pitchFamily="34" charset="-120"/>
              </a:rPr>
              <a:t>Diccionario de 198 palabras</a:t>
            </a:r>
            <a:endParaRPr lang="en-US" sz="1400" dirty="0"/>
          </a:p>
        </p:txBody>
      </p:sp>
      <p:sp>
        <p:nvSpPr>
          <p:cNvPr id="7" name="Text 4"/>
          <p:cNvSpPr/>
          <p:nvPr/>
        </p:nvSpPr>
        <p:spPr>
          <a:xfrm>
            <a:off x="6989234" y="2305385"/>
            <a:ext cx="430800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230"/>
                </a:solidFill>
                <a:latin typeface="IBM Plex Mono" pitchFamily="49" charset="0"/>
                <a:ea typeface="IBM Plex Mono" pitchFamily="49" charset="-122"/>
                <a:cs typeface="IBM Plex Mono" pitchFamily="49" charset="-120"/>
              </a:rPr>
              <a:t>puntaje(c) = Σ frecuencia de sus palabras</a:t>
            </a:r>
            <a:endParaRPr lang="en-US" sz="1200" dirty="0"/>
          </a:p>
          <a:p>
            <a:pPr algn="l" indent="0" marL="0">
              <a:lnSpc>
                <a:spcPts val="1800"/>
              </a:lnSpc>
              <a:buNone/>
            </a:pPr>
            <a:r>
              <a:rPr lang="en-US" sz="1200" dirty="0">
                <a:solidFill>
                  <a:srgbClr val="1B2230"/>
                </a:solidFill>
                <a:latin typeface="IBM Plex Mono" pitchFamily="49" charset="0"/>
                <a:ea typeface="IBM Plex Mono" pitchFamily="49" charset="-122"/>
                <a:cs typeface="IBM Plex Mono" pitchFamily="49" charset="-120"/>
              </a:rPr>
              <a:t>confianza = puntaje ganador / Σ puntajes</a:t>
            </a:r>
            <a:endParaRPr lang="en-US" sz="1200" dirty="0"/>
          </a:p>
        </p:txBody>
      </p:sp>
      <p:sp>
        <p:nvSpPr>
          <p:cNvPr id="8" name="Shape 5"/>
          <p:cNvSpPr/>
          <p:nvPr/>
        </p:nvSpPr>
        <p:spPr>
          <a:xfrm>
            <a:off x="6784975" y="3125589"/>
            <a:ext cx="4591050" cy="1223764"/>
          </a:xfrm>
          <a:prstGeom prst="roundRect">
            <a:avLst>
              <a:gd name="adj" fmla="val 5967"/>
            </a:avLst>
          </a:prstGeom>
          <a:solidFill>
            <a:srgbClr val="F5F2EA"/>
          </a:solidFill>
          <a:ln w="6350">
            <a:solidFill>
              <a:srgbClr val="E2DDD0"/>
            </a:solidFill>
            <a:prstDash val="solid"/>
          </a:ln>
        </p:spPr>
      </p:sp>
      <p:sp>
        <p:nvSpPr>
          <p:cNvPr id="9" name="Text 6"/>
          <p:cNvSpPr/>
          <p:nvPr/>
        </p:nvSpPr>
        <p:spPr>
          <a:xfrm>
            <a:off x="6989234" y="3329849"/>
            <a:ext cx="430800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2230"/>
                </a:solidFill>
                <a:latin typeface="IBM Plex Sans" pitchFamily="34" charset="0"/>
                <a:ea typeface="IBM Plex Sans" pitchFamily="34" charset="-122"/>
                <a:cs typeface="IBM Plex Sans" pitchFamily="34" charset="-120"/>
              </a:rPr>
              <a:t>Palabras clave con TF-IDF</a:t>
            </a:r>
            <a:endParaRPr lang="en-US" sz="1400" dirty="0"/>
          </a:p>
        </p:txBody>
      </p:sp>
      <p:sp>
        <p:nvSpPr>
          <p:cNvPr id="10" name="Text 7"/>
          <p:cNvSpPr/>
          <p:nvPr/>
        </p:nvSpPr>
        <p:spPr>
          <a:xfrm>
            <a:off x="6989234" y="3619370"/>
            <a:ext cx="4308009"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230"/>
                </a:solidFill>
                <a:latin typeface="IBM Plex Mono" pitchFamily="49" charset="0"/>
                <a:ea typeface="IBM Plex Mono" pitchFamily="49" charset="-122"/>
                <a:cs typeface="IBM Plex Mono" pitchFamily="49" charset="-120"/>
              </a:rPr>
              <a:t>tfidf = tf × (ln((1+n)/(1+df)) + 1)</a:t>
            </a:r>
            <a:endParaRPr lang="en-US" sz="1200" dirty="0"/>
          </a:p>
        </p:txBody>
      </p:sp>
      <p:sp>
        <p:nvSpPr>
          <p:cNvPr id="11" name="Text 8"/>
          <p:cNvSpPr/>
          <p:nvPr/>
        </p:nvSpPr>
        <p:spPr>
          <a:xfrm>
            <a:off x="6989234" y="3924170"/>
            <a:ext cx="4308009" cy="246327"/>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2"/>
                </a:solidFill>
                <a:latin typeface="IBM Plex Sans" pitchFamily="34" charset="0"/>
                <a:ea typeface="IBM Plex Sans" pitchFamily="34" charset="-122"/>
                <a:cs typeface="IBM Plex Sans" pitchFamily="34" charset="-120"/>
              </a:rPr>
              <a:t>Más nube de palabras por boleta y del lote</a:t>
            </a:r>
            <a:endParaRPr lang="en-US" sz="1200" dirty="0"/>
          </a:p>
        </p:txBody>
      </p:sp>
      <p:sp>
        <p:nvSpPr>
          <p:cNvPr id="12" name="Text 9"/>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3" name="Text 10"/>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11 · APLICACIÓN EN STREAMLIT</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Una app para subir boletas y descargar los datos</a:t>
            </a:r>
            <a:endParaRPr lang="en-US" sz="3000" dirty="0"/>
          </a:p>
        </p:txBody>
      </p:sp>
      <p:sp>
        <p:nvSpPr>
          <p:cNvPr id="4" name="Shape 2"/>
          <p:cNvSpPr/>
          <p:nvPr/>
        </p:nvSpPr>
        <p:spPr>
          <a:xfrm>
            <a:off x="812800" y="1783029"/>
            <a:ext cx="6604000" cy="3492500"/>
          </a:xfrm>
          <a:prstGeom prst="roundRect">
            <a:avLst>
              <a:gd name="adj" fmla="val 2182"/>
            </a:avLst>
          </a:prstGeom>
          <a:solidFill>
            <a:srgbClr val="FFFFFF"/>
          </a:solidFill>
          <a:ln/>
        </p:spPr>
      </p:sp>
      <p:pic>
        <p:nvPicPr>
          <p:cNvPr id="5" name="Image 0" descr="Pantalla de la app con la confianza del OCR, campos extraídos, total y categoría de una boleta">    </p:cNvPr>
          <p:cNvPicPr>
            <a:picLocks noChangeAspect="1"/>
          </p:cNvPicPr>
          <p:nvPr/>
        </p:nvPicPr>
        <p:blipFill>
          <a:blip r:embed="rId1"/>
          <a:srcRect l="0" r="0" t="-206" b="-206"/>
          <a:stretch/>
        </p:blipFill>
        <p:spPr>
          <a:xfrm>
            <a:off x="819150" y="1789379"/>
            <a:ext cx="6591300" cy="3479800"/>
          </a:xfrm>
          <a:prstGeom prst="roundRect">
            <a:avLst>
              <a:gd name="adj" fmla="val 2007"/>
            </a:avLst>
          </a:prstGeom>
        </p:spPr>
      </p:pic>
      <p:sp>
        <p:nvSpPr>
          <p:cNvPr id="6" name="Shape 3"/>
          <p:cNvSpPr/>
          <p:nvPr/>
        </p:nvSpPr>
        <p:spPr>
          <a:xfrm>
            <a:off x="815975" y="1786204"/>
            <a:ext cx="6597650" cy="3486150"/>
          </a:xfrm>
          <a:prstGeom prst="roundRect">
            <a:avLst>
              <a:gd name="adj" fmla="val 2095"/>
            </a:avLst>
          </a:prstGeom>
          <a:noFill/>
          <a:ln w="6350">
            <a:solidFill>
              <a:srgbClr val="E2DDD0"/>
            </a:solidFill>
            <a:prstDash val="solid"/>
          </a:ln>
        </p:spPr>
      </p:sp>
      <p:sp>
        <p:nvSpPr>
          <p:cNvPr id="7" name="Text 4"/>
          <p:cNvSpPr/>
          <p:nvPr/>
        </p:nvSpPr>
        <p:spPr>
          <a:xfrm>
            <a:off x="7755763" y="1783029"/>
            <a:ext cx="3727069" cy="4084373"/>
          </a:xfrm>
          <a:prstGeom prst="rect">
            <a:avLst/>
          </a:prstGeom>
          <a:noFill/>
          <a:ln/>
        </p:spPr>
        <p:txBody>
          <a:bodyPr wrap="square" lIns="0" tIns="0" rIns="0" bIns="0" rtlCol="0" anchor="t">
            <a:normAutofit/>
          </a:bodyPr>
          <a:lstStyle/>
          <a:p>
            <a:pPr algn="l" marL="169037" indent="-169037">
              <a:lnSpc>
                <a:spcPts val="2093"/>
              </a:lnSpc>
              <a:buSzPct val="100000"/>
              <a:buChar char="•"/>
            </a:pPr>
            <a:r>
              <a:rPr lang="en-US" sz="1350" dirty="0">
                <a:solidFill>
                  <a:srgbClr val="1B2230"/>
                </a:solidFill>
                <a:latin typeface="IBM Plex Sans" pitchFamily="34" charset="0"/>
                <a:ea typeface="IBM Plex Sans" pitchFamily="34" charset="-122"/>
                <a:cs typeface="IBM Plex Sans" pitchFamily="34" charset="-120"/>
              </a:rPr>
              <a:t>Carga varias imágenes o PDFs a la vez</a:t>
            </a:r>
            <a:endParaRPr lang="en-US" sz="1350" dirty="0"/>
          </a:p>
          <a:p>
            <a:pPr algn="l" marL="169037" indent="-169037">
              <a:lnSpc>
                <a:spcPts val="2093"/>
              </a:lnSpc>
              <a:buSzPct val="100000"/>
              <a:buChar char="•"/>
            </a:pPr>
            <a:r>
              <a:rPr lang="en-US" sz="1350" dirty="0">
                <a:solidFill>
                  <a:srgbClr val="1B2230"/>
                </a:solidFill>
                <a:latin typeface="IBM Plex Sans" pitchFamily="34" charset="0"/>
                <a:ea typeface="IBM Plex Sans" pitchFamily="34" charset="-122"/>
                <a:cs typeface="IBM Plex Sans" pitchFamily="34" charset="-120"/>
              </a:rPr>
              <a:t>Parámetros de preprocesamiento en la barra lateral</a:t>
            </a:r>
            <a:endParaRPr lang="en-US" sz="1350" dirty="0"/>
          </a:p>
          <a:p>
            <a:pPr algn="l" marL="169037" indent="-169037">
              <a:lnSpc>
                <a:spcPts val="2093"/>
              </a:lnSpc>
              <a:buSzPct val="100000"/>
              <a:buChar char="•"/>
            </a:pPr>
            <a:r>
              <a:rPr lang="en-US" sz="1350" dirty="0">
                <a:solidFill>
                  <a:srgbClr val="1B2230"/>
                </a:solidFill>
                <a:latin typeface="IBM Plex Sans" pitchFamily="34" charset="0"/>
                <a:ea typeface="IBM Plex Sans" pitchFamily="34" charset="-122"/>
                <a:cs typeface="IBM Plex Sans" pitchFamily="34" charset="-120"/>
              </a:rPr>
              <a:t>Pestañas: preprocesamiento, texto extraído, texto limpio y análisis NLP</a:t>
            </a:r>
            <a:endParaRPr lang="en-US" sz="1350" dirty="0"/>
          </a:p>
          <a:p>
            <a:pPr algn="l" marL="169037" indent="-169037">
              <a:lnSpc>
                <a:spcPts val="2093"/>
              </a:lnSpc>
              <a:buSzPct val="100000"/>
              <a:buChar char="•"/>
            </a:pPr>
            <a:r>
              <a:rPr lang="en-US" sz="1350" dirty="0">
                <a:solidFill>
                  <a:srgbClr val="1B2230"/>
                </a:solidFill>
                <a:latin typeface="IBM Plex Sans" pitchFamily="34" charset="0"/>
                <a:ea typeface="IBM Plex Sans" pitchFamily="34" charset="-122"/>
                <a:cs typeface="IBM Plex Sans" pitchFamily="34" charset="-120"/>
              </a:rPr>
              <a:t>Resumen del lote con gasto por categoría</a:t>
            </a:r>
            <a:endParaRPr lang="en-US" sz="1350" dirty="0"/>
          </a:p>
          <a:p>
            <a:pPr algn="l" marL="169037" indent="-169037">
              <a:lnSpc>
                <a:spcPts val="2093"/>
              </a:lnSpc>
              <a:buSzPct val="100000"/>
              <a:buChar char="•"/>
            </a:pPr>
            <a:r>
              <a:rPr lang="en-US" sz="1350" dirty="0">
                <a:solidFill>
                  <a:srgbClr val="1B2230"/>
                </a:solidFill>
                <a:latin typeface="IBM Plex Sans" pitchFamily="34" charset="0"/>
                <a:ea typeface="IBM Plex Sans" pitchFamily="34" charset="-122"/>
                <a:cs typeface="IBM Plex Sans" pitchFamily="34" charset="-120"/>
              </a:rPr>
              <a:t>Descargas en CSV, JSON y ZIP</a:t>
            </a:r>
            <a:endParaRPr lang="en-US" sz="1350" dirty="0"/>
          </a:p>
        </p:txBody>
      </p:sp>
      <p:sp>
        <p:nvSpPr>
          <p:cNvPr id="8" name="Text 5"/>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9" name="Text 6"/>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65A"/>
                </a:solidFill>
                <a:latin typeface="IBM Plex Mono" pitchFamily="49" charset="0"/>
                <a:ea typeface="IBM Plex Mono" pitchFamily="49" charset="-122"/>
                <a:cs typeface="IBM Plex Mono" pitchFamily="49" charset="-120"/>
              </a:rPr>
              <a:t>12 · PRUEBAS Y VALIDACIÓN</a:t>
            </a:r>
            <a:endParaRPr lang="en-US" sz="1200" dirty="0"/>
          </a:p>
        </p:txBody>
      </p:sp>
      <p:sp>
        <p:nvSpPr>
          <p:cNvPr id="3" name="Text 1"/>
          <p:cNvSpPr/>
          <p:nvPr>
            <p:ph type="title"/>
          </p:nvPr>
        </p:nvSpPr>
        <p:spPr>
          <a:xfrm>
            <a:off x="812800" y="1127720"/>
            <a:ext cx="11379200"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F5F2EA"/>
                </a:solidFill>
                <a:latin typeface="IBM Plex Sans" pitchFamily="34" charset="0"/>
                <a:ea typeface="IBM Plex Sans" pitchFamily="34" charset="-122"/>
                <a:cs typeface="IBM Plex Sans" pitchFamily="34" charset="-120"/>
              </a:rPr>
              <a:t>El preprocesamiento duplica los campos que se recuperan</a:t>
            </a:r>
            <a:endParaRPr lang="en-US" sz="3000" dirty="0"/>
          </a:p>
        </p:txBody>
      </p:sp>
      <p:sp>
        <p:nvSpPr>
          <p:cNvPr id="4" name="Shape 2"/>
          <p:cNvSpPr/>
          <p:nvPr/>
        </p:nvSpPr>
        <p:spPr>
          <a:xfrm>
            <a:off x="812800" y="1922729"/>
            <a:ext cx="3386667" cy="0"/>
          </a:xfrm>
          <a:prstGeom prst="line">
            <a:avLst/>
          </a:prstGeom>
          <a:noFill/>
          <a:ln w="25400">
            <a:solidFill>
              <a:srgbClr val="F2A65A"/>
            </a:solidFill>
            <a:prstDash val="solid"/>
          </a:ln>
        </p:spPr>
      </p:sp>
      <p:sp>
        <p:nvSpPr>
          <p:cNvPr id="5" name="Text 3"/>
          <p:cNvSpPr/>
          <p:nvPr/>
        </p:nvSpPr>
        <p:spPr>
          <a:xfrm>
            <a:off x="812800" y="2113229"/>
            <a:ext cx="348826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5F2EA"/>
                </a:solidFill>
                <a:latin typeface="IBM Plex Mono" pitchFamily="49" charset="0"/>
                <a:ea typeface="IBM Plex Mono" pitchFamily="49" charset="-122"/>
                <a:cs typeface="IBM Plex Mono" pitchFamily="49" charset="-120"/>
              </a:rPr>
              <a:t>3.7 → 7.0</a:t>
            </a:r>
            <a:endParaRPr lang="en-US" sz="3600" dirty="0"/>
          </a:p>
        </p:txBody>
      </p:sp>
      <p:sp>
        <p:nvSpPr>
          <p:cNvPr id="6" name="Text 4"/>
          <p:cNvSpPr/>
          <p:nvPr/>
        </p:nvSpPr>
        <p:spPr>
          <a:xfrm>
            <a:off x="812800" y="2646629"/>
            <a:ext cx="348826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campos extraídos de 7, en promedio</a:t>
            </a:r>
            <a:endParaRPr lang="en-US" sz="1300" dirty="0"/>
          </a:p>
        </p:txBody>
      </p:sp>
      <p:sp>
        <p:nvSpPr>
          <p:cNvPr id="7" name="Shape 5"/>
          <p:cNvSpPr/>
          <p:nvPr/>
        </p:nvSpPr>
        <p:spPr>
          <a:xfrm>
            <a:off x="4402667" y="1922729"/>
            <a:ext cx="3386667" cy="0"/>
          </a:xfrm>
          <a:prstGeom prst="line">
            <a:avLst/>
          </a:prstGeom>
          <a:noFill/>
          <a:ln w="25400">
            <a:solidFill>
              <a:srgbClr val="F2A65A"/>
            </a:solidFill>
            <a:prstDash val="solid"/>
          </a:ln>
        </p:spPr>
      </p:sp>
      <p:sp>
        <p:nvSpPr>
          <p:cNvPr id="8" name="Text 6"/>
          <p:cNvSpPr/>
          <p:nvPr/>
        </p:nvSpPr>
        <p:spPr>
          <a:xfrm>
            <a:off x="4402667" y="2113229"/>
            <a:ext cx="348826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5F2EA"/>
                </a:solidFill>
                <a:latin typeface="IBM Plex Mono" pitchFamily="49" charset="0"/>
                <a:ea typeface="IBM Plex Mono" pitchFamily="49" charset="-122"/>
                <a:cs typeface="IBM Plex Mono" pitchFamily="49" charset="-120"/>
              </a:rPr>
              <a:t>86 → 92 %</a:t>
            </a:r>
            <a:endParaRPr lang="en-US" sz="3600" dirty="0"/>
          </a:p>
        </p:txBody>
      </p:sp>
      <p:sp>
        <p:nvSpPr>
          <p:cNvPr id="9" name="Text 7"/>
          <p:cNvSpPr/>
          <p:nvPr/>
        </p:nvSpPr>
        <p:spPr>
          <a:xfrm>
            <a:off x="4402667" y="2646629"/>
            <a:ext cx="348826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confianza promedio del OCR</a:t>
            </a:r>
            <a:endParaRPr lang="en-US" sz="1300" dirty="0"/>
          </a:p>
        </p:txBody>
      </p:sp>
      <p:sp>
        <p:nvSpPr>
          <p:cNvPr id="10" name="Shape 8"/>
          <p:cNvSpPr/>
          <p:nvPr/>
        </p:nvSpPr>
        <p:spPr>
          <a:xfrm>
            <a:off x="7992534" y="1922729"/>
            <a:ext cx="3386667" cy="0"/>
          </a:xfrm>
          <a:prstGeom prst="line">
            <a:avLst/>
          </a:prstGeom>
          <a:noFill/>
          <a:ln w="25400">
            <a:solidFill>
              <a:srgbClr val="F2A65A"/>
            </a:solidFill>
            <a:prstDash val="solid"/>
          </a:ln>
        </p:spPr>
      </p:sp>
      <p:sp>
        <p:nvSpPr>
          <p:cNvPr id="11" name="Text 9"/>
          <p:cNvSpPr/>
          <p:nvPr/>
        </p:nvSpPr>
        <p:spPr>
          <a:xfrm>
            <a:off x="7992534" y="2113229"/>
            <a:ext cx="348826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5F2EA"/>
                </a:solidFill>
                <a:latin typeface="IBM Plex Mono" pitchFamily="49" charset="0"/>
                <a:ea typeface="IBM Plex Mono" pitchFamily="49" charset="-122"/>
                <a:cs typeface="IBM Plex Mono" pitchFamily="49" charset="-120"/>
              </a:rPr>
              <a:t>6 / 6</a:t>
            </a:r>
            <a:endParaRPr lang="en-US" sz="3600" dirty="0"/>
          </a:p>
        </p:txBody>
      </p:sp>
      <p:sp>
        <p:nvSpPr>
          <p:cNvPr id="12" name="Text 10"/>
          <p:cNvSpPr/>
          <p:nvPr/>
        </p:nvSpPr>
        <p:spPr>
          <a:xfrm>
            <a:off x="7992534" y="2646629"/>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RUC válidos, IGV cuadrado y categoría correcta</a:t>
            </a:r>
            <a:endParaRPr lang="en-US" sz="1300" dirty="0"/>
          </a:p>
        </p:txBody>
      </p:sp>
      <p:sp>
        <p:nvSpPr>
          <p:cNvPr id="13" name="Text 11"/>
          <p:cNvSpPr/>
          <p:nvPr/>
        </p:nvSpPr>
        <p:spPr>
          <a:xfrm>
            <a:off x="812800" y="3464458"/>
            <a:ext cx="981075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ED8"/>
                </a:solidFill>
                <a:latin typeface="IBM Plex Sans" pitchFamily="34" charset="0"/>
                <a:ea typeface="IBM Plex Sans" pitchFamily="34" charset="-122"/>
                <a:cs typeface="IBM Plex Sans" pitchFamily="34" charset="-120"/>
              </a:rPr>
              <a:t>Con boletas sintéticas. Con las [N] fotos reales: confianza [__ %], campos [__ / 7], categoría correcta en [__ de N]. Se mide con tools/evaluar.py.</a:t>
            </a:r>
            <a:endParaRPr lang="en-US" sz="1400" dirty="0"/>
          </a:p>
        </p:txBody>
      </p:sp>
      <p:sp>
        <p:nvSpPr>
          <p:cNvPr id="14" name="Text 12"/>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5" name="Text 13"/>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3A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3261E"/>
                </a:solidFill>
                <a:latin typeface="IBM Plex Mono" pitchFamily="49" charset="0"/>
                <a:ea typeface="IBM Plex Mono" pitchFamily="49" charset="-122"/>
                <a:cs typeface="IBM Plex Mono" pitchFamily="49" charset="-120"/>
              </a:rPr>
              <a:t>13 · LIMITACIONES Y MEJORAS</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B2230"/>
                </a:solidFill>
                <a:latin typeface="IBM Plex Sans" pitchFamily="34" charset="0"/>
                <a:ea typeface="IBM Plex Sans" pitchFamily="34" charset="-122"/>
                <a:cs typeface="IBM Plex Sans" pitchFamily="34" charset="-120"/>
              </a:rPr>
              <a:t>Lo que todavía falla y cómo lo mejoraríamos</a:t>
            </a:r>
            <a:endParaRPr lang="en-US" sz="3000" dirty="0"/>
          </a:p>
        </p:txBody>
      </p:sp>
      <p:sp>
        <p:nvSpPr>
          <p:cNvPr id="4" name="Shape 2"/>
          <p:cNvSpPr/>
          <p:nvPr/>
        </p:nvSpPr>
        <p:spPr>
          <a:xfrm>
            <a:off x="815975" y="1862404"/>
            <a:ext cx="5175250" cy="3976423"/>
          </a:xfrm>
          <a:prstGeom prst="roundRect">
            <a:avLst>
              <a:gd name="adj" fmla="val 1836"/>
            </a:avLst>
          </a:prstGeom>
          <a:solidFill>
            <a:srgbClr val="FCFBF7"/>
          </a:solidFill>
          <a:ln w="6350">
            <a:solidFill>
              <a:srgbClr val="E2DDD0"/>
            </a:solidFill>
            <a:prstDash val="solid"/>
          </a:ln>
        </p:spPr>
      </p:sp>
      <p:sp>
        <p:nvSpPr>
          <p:cNvPr id="5" name="Text 3"/>
          <p:cNvSpPr/>
          <p:nvPr/>
        </p:nvSpPr>
        <p:spPr>
          <a:xfrm>
            <a:off x="1071033" y="2117465"/>
            <a:ext cx="480508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3261E"/>
                </a:solidFill>
                <a:latin typeface="IBM Plex Sans" pitchFamily="34" charset="0"/>
                <a:ea typeface="IBM Plex Sans" pitchFamily="34" charset="-122"/>
                <a:cs typeface="IBM Plex Sans" pitchFamily="34" charset="-120"/>
              </a:rPr>
              <a:t>Limitaciones</a:t>
            </a:r>
            <a:endParaRPr lang="en-US" sz="1700" dirty="0"/>
          </a:p>
        </p:txBody>
      </p:sp>
      <p:sp>
        <p:nvSpPr>
          <p:cNvPr id="6" name="Text 4"/>
          <p:cNvSpPr/>
          <p:nvPr/>
        </p:nvSpPr>
        <p:spPr>
          <a:xfrm>
            <a:off x="1155996" y="2503488"/>
            <a:ext cx="4712504" cy="1311275"/>
          </a:xfrm>
          <a:prstGeom prst="rect">
            <a:avLst/>
          </a:prstGeom>
          <a:noFill/>
          <a:ln/>
        </p:spPr>
        <p:txBody>
          <a:bodyPr wrap="square" lIns="0" tIns="0" rIns="0" bIns="0" rtlCol="0" anchor="t">
            <a:normAutofit/>
          </a:bodyPr>
          <a:lstStyle/>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Las reglas dependen del formato; una boleta muy distinta necesita nuevos patrones</a:t>
            </a:r>
            <a:endParaRPr lang="en-US" sz="1350" dirty="0"/>
          </a:p>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Descripciones genéricas como “varios” caen en «Otros»</a:t>
            </a:r>
            <a:endParaRPr lang="en-US" sz="1350" dirty="0"/>
          </a:p>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Tesseract falla con papel muy borrado, letra a mano o fotos movidas</a:t>
            </a:r>
            <a:endParaRPr lang="en-US" sz="1350" dirty="0"/>
          </a:p>
        </p:txBody>
      </p:sp>
      <p:sp>
        <p:nvSpPr>
          <p:cNvPr id="7" name="Shape 5"/>
          <p:cNvSpPr/>
          <p:nvPr/>
        </p:nvSpPr>
        <p:spPr>
          <a:xfrm>
            <a:off x="6200775" y="1862404"/>
            <a:ext cx="5175250" cy="3976423"/>
          </a:xfrm>
          <a:prstGeom prst="roundRect">
            <a:avLst>
              <a:gd name="adj" fmla="val 1836"/>
            </a:avLst>
          </a:prstGeom>
          <a:solidFill>
            <a:srgbClr val="FCFBF7"/>
          </a:solidFill>
          <a:ln w="6350">
            <a:solidFill>
              <a:srgbClr val="E2DDD0"/>
            </a:solidFill>
            <a:prstDash val="solid"/>
          </a:ln>
        </p:spPr>
      </p:sp>
      <p:sp>
        <p:nvSpPr>
          <p:cNvPr id="8" name="Text 6"/>
          <p:cNvSpPr/>
          <p:nvPr/>
        </p:nvSpPr>
        <p:spPr>
          <a:xfrm>
            <a:off x="6455833" y="2117465"/>
            <a:ext cx="4805087"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6F78"/>
                </a:solidFill>
                <a:latin typeface="IBM Plex Sans" pitchFamily="34" charset="0"/>
                <a:ea typeface="IBM Plex Sans" pitchFamily="34" charset="-122"/>
                <a:cs typeface="IBM Plex Sans" pitchFamily="34" charset="-120"/>
              </a:rPr>
              <a:t>Mejoras posibles</a:t>
            </a:r>
            <a:endParaRPr lang="en-US" sz="1700" dirty="0"/>
          </a:p>
        </p:txBody>
      </p:sp>
      <p:sp>
        <p:nvSpPr>
          <p:cNvPr id="9" name="Text 7"/>
          <p:cNvSpPr/>
          <p:nvPr/>
        </p:nvSpPr>
        <p:spPr>
          <a:xfrm>
            <a:off x="6540796" y="2503488"/>
            <a:ext cx="4712504" cy="1054100"/>
          </a:xfrm>
          <a:prstGeom prst="rect">
            <a:avLst/>
          </a:prstGeom>
          <a:noFill/>
          <a:ln/>
        </p:spPr>
        <p:txBody>
          <a:bodyPr wrap="square" lIns="0" tIns="0" rIns="0" bIns="0" rtlCol="0" anchor="t">
            <a:normAutofit/>
          </a:bodyPr>
          <a:lstStyle/>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Comparar con EasyOCR y PaddleOCR</a:t>
            </a:r>
            <a:endParaRPr lang="en-US" sz="1350" dirty="0"/>
          </a:p>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Leer el código QR de la boleta electrónica para validar los datos</a:t>
            </a:r>
            <a:endParaRPr lang="en-US" sz="1350" dirty="0"/>
          </a:p>
          <a:p>
            <a:pPr algn="l" marL="169037" indent="-169037">
              <a:lnSpc>
                <a:spcPts val="2025"/>
              </a:lnSpc>
              <a:buSzPct val="100000"/>
              <a:buChar char="•"/>
            </a:pPr>
            <a:r>
              <a:rPr lang="en-US" sz="1350" dirty="0">
                <a:solidFill>
                  <a:srgbClr val="4A5262"/>
                </a:solidFill>
                <a:latin typeface="IBM Plex Sans" pitchFamily="34" charset="0"/>
                <a:ea typeface="IBM Plex Sans" pitchFamily="34" charset="-122"/>
                <a:cs typeface="IBM Plex Sans" pitchFamily="34" charset="-120"/>
              </a:rPr>
              <a:t>Entrenar un clasificador con más boletas etiquetadas</a:t>
            </a:r>
            <a:endParaRPr lang="en-US" sz="1350" dirty="0"/>
          </a:p>
        </p:txBody>
      </p:sp>
      <p:sp>
        <p:nvSpPr>
          <p:cNvPr id="10" name="Text 8"/>
          <p:cNvSpPr/>
          <p:nvPr/>
        </p:nvSpPr>
        <p:spPr>
          <a:xfrm>
            <a:off x="812800" y="6238280"/>
            <a:ext cx="2580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OCR y NLP de boletas peruanas</a:t>
            </a:r>
            <a:endParaRPr lang="en-US" sz="1200" dirty="0"/>
          </a:p>
        </p:txBody>
      </p:sp>
      <p:sp>
        <p:nvSpPr>
          <p:cNvPr id="11" name="Text 9"/>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2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2A65A"/>
                </a:solidFill>
                <a:latin typeface="IBM Plex Mono" pitchFamily="49" charset="0"/>
                <a:ea typeface="IBM Plex Mono" pitchFamily="49" charset="-122"/>
                <a:cs typeface="IBM Plex Mono" pitchFamily="49" charset="-120"/>
              </a:rPr>
              <a:t>CONCLUSIÓN</a:t>
            </a:r>
            <a:endParaRPr lang="en-US" sz="1300" dirty="0"/>
          </a:p>
        </p:txBody>
      </p:sp>
      <p:sp>
        <p:nvSpPr>
          <p:cNvPr id="3" name="Text 1"/>
          <p:cNvSpPr/>
          <p:nvPr>
            <p:ph type="title"/>
          </p:nvPr>
        </p:nvSpPr>
        <p:spPr>
          <a:xfrm>
            <a:off x="812800" y="2511096"/>
            <a:ext cx="9810750" cy="1561505"/>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F5F2EA"/>
                </a:solidFill>
                <a:latin typeface="IBM Plex Sans" pitchFamily="34" charset="0"/>
                <a:ea typeface="IBM Plex Sans" pitchFamily="34" charset="-122"/>
                <a:cs typeface="IBM Plex Sans" pitchFamily="34" charset="-120"/>
              </a:rPr>
              <a:t>Con un buen preprocesamiento, Tesseract y reglas basadas en el formato SUNAT bastan para digitalizar boletas peruanas.</a:t>
            </a:r>
            <a:endParaRPr lang="en-US" sz="3600" dirty="0"/>
          </a:p>
        </p:txBody>
      </p:sp>
      <p:sp>
        <p:nvSpPr>
          <p:cNvPr id="4" name="Text 2"/>
          <p:cNvSpPr/>
          <p:nvPr/>
        </p:nvSpPr>
        <p:spPr>
          <a:xfrm>
            <a:off x="812800" y="5514380"/>
            <a:ext cx="34006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Mono" pitchFamily="49" charset="0"/>
                <a:ea typeface="IBM Plex Mono" pitchFamily="49" charset="-122"/>
                <a:cs typeface="IBM Plex Mono" pitchFamily="49" charset="-120"/>
              </a:rPr>
              <a:t>REPOSITORIO</a:t>
            </a:r>
            <a:endParaRPr lang="en-US" sz="1200" dirty="0"/>
          </a:p>
        </p:txBody>
      </p:sp>
      <p:sp>
        <p:nvSpPr>
          <p:cNvPr id="5" name="Text 3"/>
          <p:cNvSpPr/>
          <p:nvPr/>
        </p:nvSpPr>
        <p:spPr>
          <a:xfrm>
            <a:off x="812800" y="5778500"/>
            <a:ext cx="370800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2EA"/>
                </a:solidFill>
                <a:latin typeface="IBM Plex Sans" pitchFamily="34" charset="0"/>
                <a:ea typeface="IBM Plex Sans" pitchFamily="34" charset="-122"/>
                <a:cs typeface="IBM Plex Sans" pitchFamily="34" charset="-120"/>
              </a:rPr>
              <a:t>[github.com/usuario/ocr-boletas-peru]</a:t>
            </a:r>
            <a:endParaRPr lang="en-US" sz="1500" dirty="0"/>
          </a:p>
        </p:txBody>
      </p:sp>
      <p:sp>
        <p:nvSpPr>
          <p:cNvPr id="6" name="Text 4"/>
          <p:cNvSpPr/>
          <p:nvPr/>
        </p:nvSpPr>
        <p:spPr>
          <a:xfrm>
            <a:off x="4520803" y="5514380"/>
            <a:ext cx="28439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Mono" pitchFamily="49" charset="0"/>
                <a:ea typeface="IBM Plex Mono" pitchFamily="49" charset="-122"/>
                <a:cs typeface="IBM Plex Mono" pitchFamily="49" charset="-120"/>
              </a:rPr>
              <a:t>APP</a:t>
            </a:r>
            <a:endParaRPr lang="en-US" sz="1200" dirty="0"/>
          </a:p>
        </p:txBody>
      </p:sp>
      <p:sp>
        <p:nvSpPr>
          <p:cNvPr id="7" name="Text 5"/>
          <p:cNvSpPr/>
          <p:nvPr/>
        </p:nvSpPr>
        <p:spPr>
          <a:xfrm>
            <a:off x="4520803" y="5778500"/>
            <a:ext cx="316752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2EA"/>
                </a:solidFill>
                <a:latin typeface="IBM Plex Sans" pitchFamily="34" charset="0"/>
                <a:ea typeface="IBM Plex Sans" pitchFamily="34" charset="-122"/>
                <a:cs typeface="IBM Plex Sans" pitchFamily="34" charset="-120"/>
              </a:rPr>
              <a:t>[ocr-boletas-peru.streamlit.app]</a:t>
            </a:r>
            <a:endParaRPr lang="en-US" sz="1500" dirty="0"/>
          </a:p>
        </p:txBody>
      </p:sp>
      <p:sp>
        <p:nvSpPr>
          <p:cNvPr id="8" name="Text 6"/>
          <p:cNvSpPr/>
          <p:nvPr/>
        </p:nvSpPr>
        <p:spPr>
          <a:xfrm>
            <a:off x="7688329" y="5514380"/>
            <a:ext cx="109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6"/>
                </a:solidFill>
                <a:latin typeface="IBM Plex Mono" pitchFamily="49" charset="0"/>
                <a:ea typeface="IBM Plex Mono" pitchFamily="49" charset="-122"/>
                <a:cs typeface="IBM Plex Mono" pitchFamily="49" charset="-120"/>
              </a:rPr>
              <a:t>GRACIAS</a:t>
            </a:r>
            <a:endParaRPr lang="en-US" sz="1200" dirty="0"/>
          </a:p>
        </p:txBody>
      </p:sp>
      <p:sp>
        <p:nvSpPr>
          <p:cNvPr id="9" name="Text 7"/>
          <p:cNvSpPr/>
          <p:nvPr/>
        </p:nvSpPr>
        <p:spPr>
          <a:xfrm>
            <a:off x="7688329" y="5778500"/>
            <a:ext cx="12534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2EA"/>
                </a:solidFill>
                <a:latin typeface="IBM Plex Sans" pitchFamily="34" charset="0"/>
                <a:ea typeface="IBM Plex Sans" pitchFamily="34" charset="-122"/>
                <a:cs typeface="IBM Plex Sans" pitchFamily="34" charset="-120"/>
              </a:rPr>
              <a:t>¿Preguntas?</a:t>
            </a:r>
            <a:endParaRPr lang="en-US" sz="1500" dirty="0"/>
          </a:p>
        </p:txBody>
      </p:sp>
    </p:spTree>
  </p:cSld>
  <p:clrMapOvr>
    <a:masterClrMapping/>
  </p:clrMapOvr>
</p:sld>
</file>

<file path=ppt/theme/theme1.xml><?xml version="1.0" encoding="utf-8"?>
<a:theme xmlns:a="http://schemas.openxmlformats.org/drawingml/2006/main" name="OCR y NLP de boletas peruanas">
  <a:themeElements>
    <a:clrScheme name="OCR y NLP de boletas peruanas">
      <a:dk1>
        <a:srgbClr val="1B2230"/>
      </a:dk1>
      <a:lt1>
        <a:srgbClr val="F5F2EA"/>
      </a:lt1>
      <a:dk2>
        <a:srgbClr val="52565F"/>
      </a:dk2>
      <a:lt2>
        <a:srgbClr val="DFDDD7"/>
      </a:lt2>
      <a:accent1>
        <a:srgbClr val="B3261E"/>
      </a:accent1>
      <a:accent2>
        <a:srgbClr val="F2A65A"/>
      </a:accent2>
      <a:accent3>
        <a:srgbClr val="1F6F78"/>
      </a:accent3>
      <a:accent4>
        <a:srgbClr val="6B7280"/>
      </a:accent4>
      <a:accent5>
        <a:srgbClr val="4A5262"/>
      </a:accent5>
      <a:accent6>
        <a:srgbClr val="C9CED8"/>
      </a:accent6>
      <a:hlink>
        <a:srgbClr val="0563C1"/>
      </a:hlink>
      <a:folHlink>
        <a:srgbClr val="954F72"/>
      </a:folHlink>
    </a:clrScheme>
    <a:fontScheme name="OCR y NLP de boletas peruana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y NLP de boletas peruanas</dc:title>
  <dc:subject/>
  <dc:creator/>
  <cp:lastModifiedBy/>
  <cp:revision>1</cp:revision>
  <dcterms:created xsi:type="dcterms:W3CDTF">2026-10-23T23:41:20Z</dcterms:created>
  <dcterms:modified xsi:type="dcterms:W3CDTF">2026-10-23T23:41:20Z</dcterms:modified>
</cp:coreProperties>
</file>